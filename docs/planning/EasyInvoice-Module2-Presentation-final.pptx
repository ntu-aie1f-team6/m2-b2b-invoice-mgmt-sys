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4f8a137f38452c" /><Relationship Type="http://schemas.openxmlformats.org/officeDocument/2006/relationships/extended-properties" Target="/docProps/app.xml" Id="Rce18ed57eebe443d" /><Relationship Type="http://schemas.openxmlformats.org/officeDocument/2006/relationships/officeDocument" Target="/ppt/presentation.xml" Id="Rc81b52adfbc94d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ab2ceef4414e80"/>
  </p:sldMasterIdLst>
  <p:notesMasterIdLst>
    <p:notesMasterId xmlns:r="http://schemas.openxmlformats.org/officeDocument/2006/relationships" r:id="R273efbed05cd4b4d"/>
  </p:notesMasterIdLst>
  <p:sldIdLst>
    <p:sldId xmlns:r="http://schemas.openxmlformats.org/officeDocument/2006/relationships" id="256" r:id="R54cd34f578834afc"/>
    <p:sldId xmlns:r="http://schemas.openxmlformats.org/officeDocument/2006/relationships" id="257" r:id="R7a8cf7c9bb8749b2"/>
    <p:sldId xmlns:r="http://schemas.openxmlformats.org/officeDocument/2006/relationships" id="258" r:id="Rcd76adc25e204bea"/>
    <p:sldId xmlns:r="http://schemas.openxmlformats.org/officeDocument/2006/relationships" id="259" r:id="R15117de8d0b5494f"/>
    <p:sldId xmlns:r="http://schemas.openxmlformats.org/officeDocument/2006/relationships" id="260" r:id="R4cd1fb83f62e4d42"/>
    <p:sldId xmlns:r="http://schemas.openxmlformats.org/officeDocument/2006/relationships" id="261" r:id="R8cfeaa87e8fc41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aadfd1508a440c" /><Relationship Type="http://schemas.openxmlformats.org/officeDocument/2006/relationships/slideMaster" Target="/ppt/slideMasters/slideMaster1.xml" Id="R50ab2ceef4414e80" /><Relationship Type="http://schemas.openxmlformats.org/officeDocument/2006/relationships/notesMaster" Target="/ppt/notesMasters/notesMaster1.xml" Id="R273efbed05cd4b4d" /><Relationship Type="http://schemas.openxmlformats.org/officeDocument/2006/relationships/presProps" Target="/ppt/presProps.xml" Id="R7a392ef4b8b2495c" /><Relationship Type="http://schemas.openxmlformats.org/officeDocument/2006/relationships/tableStyles" Target="/ppt/tableStyles.xml" Id="Ra7409bff948340ca" /><Relationship Type="http://schemas.openxmlformats.org/officeDocument/2006/relationships/slide" Target="/ppt/slides/slide1.xml" Id="R54cd34f578834afc" /><Relationship Type="http://schemas.openxmlformats.org/officeDocument/2006/relationships/slide" Target="/ppt/slides/slide2.xml" Id="R7a8cf7c9bb8749b2" /><Relationship Type="http://schemas.openxmlformats.org/officeDocument/2006/relationships/slide" Target="/ppt/slides/slide3.xml" Id="Rcd76adc25e204bea" /><Relationship Type="http://schemas.openxmlformats.org/officeDocument/2006/relationships/slide" Target="/ppt/slides/slide4.xml" Id="R15117de8d0b5494f" /><Relationship Type="http://schemas.openxmlformats.org/officeDocument/2006/relationships/slide" Target="/ppt/slides/slide5.xml" Id="R4cd1fb83f62e4d42" /><Relationship Type="http://schemas.openxmlformats.org/officeDocument/2006/relationships/slide" Target="/ppt/slides/slide6.xml" Id="R8cfeaa87e8fc41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cc60fb9a5f45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33c07b0b69482c" /><Relationship Type="http://schemas.openxmlformats.org/officeDocument/2006/relationships/notesMaster" Target="/ppt/notesMasters/notesMaster1.xml" Id="R1d689660f38142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6850adcf684f2d" /><Relationship Type="http://schemas.openxmlformats.org/officeDocument/2006/relationships/notesMaster" Target="/ppt/notesMasters/notesMaster1.xml" Id="R9ebd4a444d0945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50b26e4a4c4ce3" /><Relationship Type="http://schemas.openxmlformats.org/officeDocument/2006/relationships/notesMaster" Target="/ppt/notesMasters/notesMaster1.xml" Id="R73b3850e30f240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820a3ff8a44d01" /><Relationship Type="http://schemas.openxmlformats.org/officeDocument/2006/relationships/notesMaster" Target="/ppt/notesMasters/notesMaster1.xml" Id="R64c2338422e145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7c4562758e4333" /><Relationship Type="http://schemas.openxmlformats.org/officeDocument/2006/relationships/notesMaster" Target="/ppt/notesMasters/notesMaster1.xml" Id="R0409a87e95ad4b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f7112310ab4ff4" /><Relationship Type="http://schemas.openxmlformats.org/officeDocument/2006/relationships/notesMaster" Target="/ppt/notesMasters/notesMaster1.xml" Id="Rb809c78446ed41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25 seconds. Introduce EasyInvoice as the team's React learning project. The slides take about four minutes, followed by the working demo. Sources: README.md and docs/planning/presentation-outline.md.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40 seconds. Explain that small finance teams need one view of invoice creation, transmission and collection status. EasyInvoice demonstrates that workflow but does not connect to the real InvoiceNow network. Sources: README.md and docs/images/Peppol-InvoiceNow.png.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40 seconds. Point out the dashboard's operational view and the controlled create form. The live demo will show search, invoice creation, simulated transmission and status changes. Sources: docs/images/dashboard.png and docs/images/create-invoice.png.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50 seconds. Explain why each technology was chosen. MockAPI provides shared persistence without a custom backend. The free tier allowed two resources, so customers and products share referenceData. Sources: README.md, docs/engineering/architecture-design.md and docs/images/referenceData-customers.png.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45 seconds. Summarise each member's learning focus. Ralph built the initial React application, Jenn established behavioural testing, and John integrated persistence, permissions and repository automation. Sources: docs/planning/presentation-outline.md, README.md and docs/images/Full_tour_with_code.png.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50 seconds. Describe the resource-limit decision, the destructive schema-editor risk and the integration bug found by tests. Then move directly to the live demo: compare viewer and editor access, create and transmit an invoice, and mark a transmitted invoice paid. Sources: docs/planning/presentation-outline.md, docs/decisions/decisions-log.md and docs/images/Hints-ON.png.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4b04c49bf4c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3d1fb6b6414d63" /><Relationship Type="http://schemas.openxmlformats.org/officeDocument/2006/relationships/slideLayout" Target="/ppt/slideLayouts/slideLayout1.xml" Id="R74b31abe32024a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b31abe32024a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12fb432364947" /><Relationship Type="http://schemas.openxmlformats.org/officeDocument/2006/relationships/image" Target="/ppt/media/image.jpeg" Id="R7d7d3596344e459c" /><Relationship Type="http://schemas.openxmlformats.org/officeDocument/2006/relationships/image" Target="/ppt/media/image.png" Id="R8aa0f64111364bb4" /><Relationship Type="http://schemas.openxmlformats.org/officeDocument/2006/relationships/image" Target="/ppt/media/image2.png" Id="R6d77a56944054695" /><Relationship Type="http://schemas.openxmlformats.org/officeDocument/2006/relationships/notesSlide" Target="/ppt/notesSlides/notesSlide1.xml" Id="R56062a7bd4ce428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e871240cc46da" /><Relationship Type="http://schemas.openxmlformats.org/officeDocument/2006/relationships/image" Target="/ppt/media/image3.png" Id="R72eb016172644fba" /><Relationship Type="http://schemas.openxmlformats.org/officeDocument/2006/relationships/notesSlide" Target="/ppt/notesSlides/notesSlide2.xml" Id="Rfb9b3bd5f82c4a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387cc12804bab" /><Relationship Type="http://schemas.openxmlformats.org/officeDocument/2006/relationships/image" Target="/ppt/media/image4.png" Id="R5946d7d05e244c22" /><Relationship Type="http://schemas.openxmlformats.org/officeDocument/2006/relationships/image" Target="/ppt/media/image5.png" Id="R7af4d2e14d6d4ac1" /><Relationship Type="http://schemas.openxmlformats.org/officeDocument/2006/relationships/notesSlide" Target="/ppt/notesSlides/notesSlide3.xml" Id="R89beb95c757f49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56aef7c8c415e" /><Relationship Type="http://schemas.openxmlformats.org/officeDocument/2006/relationships/image" Target="/ppt/media/image6.png" Id="Rbf18ad12da7f4c33" /><Relationship Type="http://schemas.openxmlformats.org/officeDocument/2006/relationships/notesSlide" Target="/ppt/notesSlides/notesSlide4.xml" Id="R99bdca4c95b942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e1c7951d12469d" /><Relationship Type="http://schemas.openxmlformats.org/officeDocument/2006/relationships/image" Target="/ppt/media/image7.png" Id="Re5d48432e5ee470c" /><Relationship Type="http://schemas.openxmlformats.org/officeDocument/2006/relationships/notesSlide" Target="/ppt/notesSlides/notesSlide5.xml" Id="Rdf9434eaff0b46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b6aa36eda4d03" /><Relationship Type="http://schemas.openxmlformats.org/officeDocument/2006/relationships/image" Target="/ppt/media/image8.png" Id="R34d0cf32a9e34bc6" /><Relationship Type="http://schemas.openxmlformats.org/officeDocument/2006/relationships/notesSlide" Target="/ppt/notesSlides/notesSlide6.xml" Id="R4ad86d191aee42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F55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8E4D39-D9DC-48FE-8AF0-AE9303DC3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66800"/>
            <a:ext cx="1066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E00F3-BA39-4AA4-B1F9-F4829F5E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571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EasyInvoice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50B3C-5A72-4FF6-AECD-6956EADE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5429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DF9"/>
                </a:solidFill>
                <a:latin typeface="Arial"/>
                <a:ea typeface="Arial"/>
                <a:cs typeface="Arial"/>
              </a:rPr>
              <a:t>React learning project</a:t>
            </a:r>
          </a:p>
          <a:p xmlns:a="http://schemas.openxmlformats.org/drawingml/2006/main">
            <a:pPr>
              <a:defRPr sz="2400" b="0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FFFDF9"/>
                </a:solidFill>
                <a:latin typeface="Arial"/>
                <a:ea typeface="Arial"/>
                <a:cs typeface="Arial"/>
              </a:rPr>
              <a:t>for B2B e-invoicing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4AC9C7-03CA-4812-A0BD-A8206B7A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338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EDB86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DB86C"/>
                </a:solidFill>
                <a:latin typeface="Arial"/>
                <a:ea typeface="Arial"/>
                <a:cs typeface="Arial"/>
              </a:rPr>
              <a:t>NTU AI Engineering, Module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F9B69-D6F9-4A23-971C-9406D35D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0287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EDB86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DB86C"/>
                </a:solidFill>
                <a:latin typeface="Arial"/>
                <a:ea typeface="Arial"/>
                <a:cs typeface="Arial"/>
              </a:rPr>
              <a:t>TEAM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ECB2C7-84B9-485F-99A2-2D305CE4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430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d3596344e459c"/>
          <a:srcRect xmlns:a="http://schemas.openxmlformats.org/drawingml/2006/main" l="0" t="11170" r="0" b="111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600200"/>
            <a:ext cx="1314450" cy="1314450"/>
          </a:xfrm>
          <a:prstGeom xmlns:a="http://schemas.openxmlformats.org/drawingml/2006/main" prst="ellipse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5D3F45-324C-4FEE-9E0C-F21AFBC63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0515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Ralph Koh</a:t>
            </a:r>
          </a:p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Kwan Liang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BE25E-E507-44E6-9BC2-A33266D7C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5430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0f64111364bb4"/>
          <a:srcRect xmlns:a="http://schemas.openxmlformats.org/drawingml/2006/main" l="0" t="12454" r="0" b="124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20100" y="1600200"/>
            <a:ext cx="1314450" cy="1314450"/>
          </a:xfrm>
          <a:prstGeom xmlns:a="http://schemas.openxmlformats.org/drawingml/2006/main" prst="ellipse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3D3248-D7D2-4CDF-BC1F-43C98F2A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Ang Jenn</a:t>
            </a:r>
          </a:p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Fang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225259-C6E8-4361-B49B-73B83028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54305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7a5694405469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67950" y="1600200"/>
            <a:ext cx="1314450" cy="1314450"/>
          </a:xfrm>
          <a:prstGeom xmlns:a="http://schemas.openxmlformats.org/drawingml/2006/main" prst="ellipse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9D1F5-9A31-493D-9194-7EC10CAD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105150"/>
            <a:ext cx="1657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John</a:t>
            </a:r>
          </a:p>
          <a:p xmlns:a="http://schemas.openxmlformats.org/drawingml/2006/main">
            <a:pPr>
              <a:defRPr sz="1800" b="1">
                <a:solidFill>
                  <a:srgbClr val="FFFDF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DF9"/>
                </a:solidFill>
                <a:latin typeface="Arial"/>
                <a:ea typeface="Arial"/>
                <a:cs typeface="Arial"/>
              </a:rPr>
              <a:t>Phang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7AF4A3-A0AD-437A-80BE-0B3580DDD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EDB86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DB86C"/>
                </a:solidFill>
                <a:latin typeface="Arial"/>
                <a:ea typeface="Arial"/>
                <a:cs typeface="Arial"/>
              </a:rPr>
              <a:t>Live demo follows this short overview</a:t>
            </a:r>
          </a:p>
        </p:txBody>
      </p:sp>
    </p:spTree>
    <p:extLst>
      <p:ext uri="{BB962C8B-B14F-4D97-AF65-F5344CB8AC3E}">
        <p14:creationId xmlns:p14="http://schemas.microsoft.com/office/powerpoint/2010/main" val="5706312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602D9F-4DDD-4856-8665-31DF2A26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Problem and audience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5254B-CD8A-4EBF-A13E-C8EC6859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B47CE1-BF71-4FF2-93AA-97B67C82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Invoice work spans creation,</a:t>
            </a:r>
          </a:p>
          <a:p xmlns:a="http://schemas.openxmlformats.org/drawingml/2006/main">
            <a:pPr>
              <a:defRPr sz="255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transmission and payment status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5D81A-4C34-4AFA-A0F8-C20BA327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Audience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65A3B-3E8D-4BEF-9483-E7D6A915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Small business finance and accounts receivable teams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4024AA-4551-48D9-B8A5-73C2BD29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EasyInvoice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DE38BA-188A-4D34-BA30-4CBBD10C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A browser demo of the invoice lifecycle using Singapore InvoiceNow concepts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B461C-ED82-4514-8534-7A0AD643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Simulated network. Synthetic data only.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F8B88D-6C62-4F8B-88C3-FDE3391C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19200"/>
            <a:ext cx="5334000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b016172644fba"/>
          <a:stretch xmlns:a="http://schemas.openxmlformats.org/drawingml/2006/main"/>
        </p:blipFill>
        <p:spPr>
          <a:xfrm xmlns:a="http://schemas.openxmlformats.org/drawingml/2006/main">
            <a:off x="6477000" y="1696323"/>
            <a:ext cx="4800600" cy="39797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602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5DEBF-D9A6-4D4F-955B-B5B7E7C1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Working application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3EB4A-6842-4C5A-A958-D3FB6937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5A60A-1B9F-4F7C-A625-CE536B06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539115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99FDDF-D9C0-4AB9-94B1-00BBA72FA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257300"/>
            <a:ext cx="5391150" cy="4819650"/>
          </a:xfrm>
          <a:prstGeom xmlns:a="http://schemas.openxmlformats.org/drawingml/2006/main" prst="roundRect">
            <a:avLst>
              <a:gd name="adj" fmla="val 158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AD1C29-35AE-4BF9-9551-F99BE75D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21B79-E07D-4595-9DEA-871498A34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66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662"/>
                </a:solidFill>
                <a:latin typeface="Arial"/>
                <a:ea typeface="Arial"/>
                <a:cs typeface="Arial"/>
              </a:rPr>
              <a:t>Search, filter, status and actions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6d7d05e244c22"/>
          <a:srcRect xmlns:a="http://schemas.openxmlformats.org/drawingml/2006/main" l="0" t="16244" r="0" b="162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2209800"/>
            <a:ext cx="4933950" cy="3619500"/>
          </a:xfrm>
          <a:prstGeom xmlns:a="http://schemas.openxmlformats.org/drawingml/2006/main" prst="roundRect">
            <a:avLst>
              <a:gd name="adj" fmla="val 210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E5560-A73B-4EFC-84D5-6AE52860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4287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Create invoice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F2D180-C996-47DE-88A3-FA412382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9070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F666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662"/>
                </a:solidFill>
                <a:latin typeface="Arial"/>
                <a:ea typeface="Arial"/>
                <a:cs typeface="Arial"/>
              </a:rPr>
              <a:t>Controlled form, catalogue items and GST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4d2e14d6d4ac1"/>
          <a:srcRect xmlns:a="http://schemas.openxmlformats.org/drawingml/2006/main" l="0" t="1341" r="0" b="13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2209800"/>
            <a:ext cx="4933950" cy="3619500"/>
          </a:xfrm>
          <a:prstGeom xmlns:a="http://schemas.openxmlformats.org/drawingml/2006/main" prst="roundRect">
            <a:avLst>
              <a:gd name="adj" fmla="val 2105"/>
            </a:avLst>
          </a:prstGeom>
        </p:spPr>
      </p:pic>
    </p:spTree>
    <p:extLst>
      <p:ext uri="{BB962C8B-B14F-4D97-AF65-F5344CB8AC3E}">
        <p14:creationId xmlns:p14="http://schemas.microsoft.com/office/powerpoint/2010/main" val="11819368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9BB7AD-3DB1-4BE6-B049-38B5A763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Technology and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092936-87F4-4B22-A55D-489D1800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C66576-3ECC-4EEF-899E-2F311816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React 19 + Vite 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93DC7-1A36-401C-B95B-62BF6DD8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Components, hooks and fast local builds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830A1-5599-4400-BB00-69853230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84896-B546-49C7-8970-35BBDAF4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React Router 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3CE6D0-C422-43B8-BE4B-AD98D426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Public login/tour and protected app routes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96324-6BDF-4B8A-ADD5-B7191368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1F56A2-D940-4430-A0DB-43DF0FF8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MockAPI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3403D-AD5C-4720-9534-9D63758D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Shared CRUD persistence, no custom server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EBA4B-49F8-4C8D-9972-BFD68ACA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390AEA-2698-4213-A04A-160ADB78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Vitest + React Testing Library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DF00D8-4DC1-497E-9E9C-A92FE4FE9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37 behaviour tests in GitHub Actions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CC3D85-3F15-4CF4-AFED-5F108CBB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A72121-464B-4C56-A48B-1D208294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F555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F5552"/>
                </a:solidFill>
                <a:latin typeface="Arial"/>
                <a:ea typeface="Arial"/>
                <a:cs typeface="Arial"/>
              </a:rPr>
              <a:t>Public APIs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BB66C6-6909-4C92-816B-1BBAA41F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FX rates and illustrative customer contacts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86E2A-BFAB-4A8A-A7E9-80A568F7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5676900" cy="4838700"/>
          </a:xfrm>
          <a:prstGeom xmlns:a="http://schemas.openxmlformats.org/drawingml/2006/main" prst="roundRect">
            <a:avLst>
              <a:gd name="adj" fmla="val 1575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7A8DC-3050-4A4B-A9D5-852D5671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478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MockAPI reference data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8ad12da7f4c33"/>
          <a:srcRect xmlns:a="http://schemas.openxmlformats.org/drawingml/2006/main" l="2238" t="0" r="223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924050"/>
            <a:ext cx="5143500" cy="3886200"/>
          </a:xfrm>
          <a:prstGeom xmlns:a="http://schemas.openxmlformats.org/drawingml/2006/main" prst="roundRect">
            <a:avLst>
              <a:gd name="adj" fmla="val 1961"/>
            </a:avLst>
          </a:prstGeom>
        </p:spPr>
      </p:pic>
    </p:spTree>
    <p:extLst>
      <p:ext uri="{BB962C8B-B14F-4D97-AF65-F5344CB8AC3E}">
        <p14:creationId xmlns:p14="http://schemas.microsoft.com/office/powerpoint/2010/main" val="20112556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637873-F5E9-493C-BD17-BEBC5D05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"/>
            <a:ext cx="10325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Team learnings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5B4EEE-FE07-4C77-9E0D-29B314FF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C6C29F-7F5E-426D-8404-A32CEFD82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Ralph Koh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2F039-A322-436E-899E-2BBE4675F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Structured a complete React app with reusable components, routes and shared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00FD6-897A-4027-A7F7-D73D67A25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F505CE-D4D5-4487-B1E3-551C8790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Ang Jenn Fang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415D05-FEE5-474B-B494-AA59E8D4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Tested user behaviour with Vitest, React Testing Library and mocks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DD3A2F-2F9D-4931-BCB9-113FEF6F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495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C1284-3C31-4AC5-8D7E-7FDF8034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45F3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45F3F"/>
                </a:solidFill>
                <a:latin typeface="Arial"/>
                <a:ea typeface="Arial"/>
                <a:cs typeface="Arial"/>
              </a:rPr>
              <a:t>John Phang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DE7FF-592A-4418-A3E9-014B4B90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6730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Integrated hosted persistence, role checks and CI across parallel branches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7B8825-0F35-4729-97F9-80A5CECE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257300"/>
            <a:ext cx="546735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48432e5ee470c"/>
          <a:srcRect xmlns:a="http://schemas.openxmlformats.org/drawingml/2006/main" l="0" t="6328" r="0" b="63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62700" y="1447800"/>
            <a:ext cx="4972050" cy="4457700"/>
          </a:xfrm>
          <a:prstGeom xmlns:a="http://schemas.openxmlformats.org/drawingml/2006/main" prst="roundRect">
            <a:avLst>
              <a:gd name="adj" fmla="val 1709"/>
            </a:avLst>
          </a:prstGeom>
        </p:spPr>
      </p:pic>
    </p:spTree>
    <p:extLst>
      <p:ext uri="{BB962C8B-B14F-4D97-AF65-F5344CB8AC3E}">
        <p14:creationId xmlns:p14="http://schemas.microsoft.com/office/powerpoint/2010/main" val="15577149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9A6EBB-CFE5-4E46-9499-E72DCE0E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Challenges and responses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40D47E-8486-4F76-9A12-760D73C36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B9463D-5BF1-41DE-B018-EC19DA80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MockAPI allowed two resources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9B48F1-F984-458A-A23D-1F344987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Customers and products share a typed referenceData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98555-28E6-41E2-841B-97207687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0CD63-4D44-4853-AD34-D509298E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The schema editor could erase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C109CC-9CD9-4098-B55F-5241E5E67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The team documented the risk and added repeatable seed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A9972-2CFC-4430-8700-94302AE9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619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8D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7E5CA-5AF4-49FD-9FCA-B7B86035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E3C7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E3C75"/>
                </a:solidFill>
                <a:latin typeface="Arial"/>
                <a:ea typeface="Arial"/>
                <a:cs typeface="Arial"/>
              </a:rPr>
              <a:t>Session-key mismatch after integration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29C20-95A5-4EBC-A2FE-D76C8D63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619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B211F"/>
                </a:solidFill>
                <a:latin typeface="Arial"/>
                <a:ea typeface="Arial"/>
                <a:cs typeface="Arial"/>
              </a:rPr>
              <a:t>Tests caught the regression before release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7F003-269C-413F-BC56-B6FB68757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57300"/>
            <a:ext cx="424815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d0cf32a9e34bc6"/>
          <a:srcRect xmlns:a="http://schemas.openxmlformats.org/drawingml/2006/main" l="265" t="0" r="2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62850" y="1466850"/>
            <a:ext cx="3790950" cy="3676650"/>
          </a:xfrm>
          <a:prstGeom xmlns:a="http://schemas.openxmlformats.org/drawingml/2006/main" prst="roundRect">
            <a:avLst>
              <a:gd name="adj" fmla="val 2073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51CB3-CD5F-4691-857F-0091586B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9728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B86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35821-4747-48BC-A174-8CF63915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B211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B211F"/>
                </a:solidFill>
                <a:latin typeface="Arial"/>
                <a:ea typeface="Arial"/>
                <a:cs typeface="Arial"/>
              </a:rPr>
              <a:t>Live demo next: viewer permissions, create and transmit, mark paid</a:t>
            </a:r>
          </a:p>
        </p:txBody>
      </p:sp>
    </p:spTree>
    <p:extLst>
      <p:ext uri="{BB962C8B-B14F-4D97-AF65-F5344CB8AC3E}">
        <p14:creationId xmlns:p14="http://schemas.microsoft.com/office/powerpoint/2010/main" val="11919479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2026-09-30T17:16:32.0540000Z</dcterms:created>
  <dcterms:modified xsi:type="dcterms:W3CDTF">2026-09-30T17:16:32.0540000Z</dcterms:modified>
</coreProperties>
</file>