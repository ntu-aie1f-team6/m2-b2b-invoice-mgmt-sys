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557"/>
  </p:normalViewPr>
  <p:slideViewPr>
    <p:cSldViewPr snapToGrid="0">
      <p:cViewPr varScale="1">
        <p:scale>
          <a:sx n="104" d="100"/>
          <a:sy n="104" d="100"/>
        </p:scale>
        <p:origin x="232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25 seconds. Introduce EasyInvoice as the team's React learning project. The slides take about four minutes, followed by the working demo. Sources: README.md and docs/planning/presentation-outline.md.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Timing: 40 seconds. Explain that small finance teams need one view of invoice creation, transmission and collection status. </a:t>
            </a:r>
            <a:r>
              <a:rPr dirty="0" err="1"/>
              <a:t>EasyInvoice</a:t>
            </a:r>
            <a:r>
              <a:rPr dirty="0"/>
              <a:t> demonstrates that workflow but does not connect to the real </a:t>
            </a:r>
            <a:r>
              <a:rPr dirty="0" err="1"/>
              <a:t>InvoiceNow</a:t>
            </a:r>
            <a:r>
              <a:rPr dirty="0"/>
              <a:t> network. Sources: </a:t>
            </a:r>
            <a:r>
              <a:rPr dirty="0" err="1"/>
              <a:t>README.md</a:t>
            </a:r>
            <a:r>
              <a:rPr dirty="0"/>
              <a:t> and docs/images/</a:t>
            </a:r>
            <a:r>
              <a:rPr dirty="0" err="1"/>
              <a:t>Peppol-InvoiceNow.png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seconds. Point out the dashboard's operational view and the controlled create form. The live demo will show search, invoice creation, simulated transmission and status changes. Sources: docs/images/dashboard.png and docs/images/create-invoice.png.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seconds. Explain why each technology was chosen. MockAPI provides shared persistence without a custom backend. The free tier allowed two resources, so customers and products share referenceData. Sources: README.md, docs/engineering/architecture-design.md and docs/images/referenceData-customers.png.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seconds. Summarise each member's learning focus. Ralph built the initial React application, Jenn established behavioural testing, and John integrated persistence, permissions and repository automation. Sources: docs/planning/presentation-outline.md, README.md and docs/images/Full_tour_with_code.png.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seconds. Describe the resource-limit decision, the destructive schema-editor risk and the integration bug found by tests. Then move directly to the live demo: compare viewer and editor access, create and transmit an invoice, and mark a transmitted invoice paid. Sources: docs/planning/presentation-outline.md, docs/decisions/decisions-log.md and docs/images/Hints-ON.png.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ie1f-easyinvoice.vercel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github.com/NTU-AIE1F-Team6/m2-b2b-invoice-mgmt-sy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22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D8B709B-3F46-4C3D-9C04-275B0040D14A}"/>
              </a:ext>
            </a:extLst>
          </p:cNvPr>
          <p:cNvSpPr>
            <a:spLocks noGrp="1"/>
          </p:cNvSpPr>
          <p:nvPr/>
        </p:nvSpPr>
        <p:spPr>
          <a:xfrm>
            <a:off x="647700" y="1066800"/>
            <a:ext cx="1066800" cy="95250"/>
          </a:xfrm>
          <a:prstGeom prst="rect">
            <a:avLst/>
          </a:prstGeom>
          <a:solidFill>
            <a:srgbClr val="EDB86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308070-1EFE-43B7-A81C-6F522B9B4EFD}"/>
              </a:ext>
            </a:extLst>
          </p:cNvPr>
          <p:cNvSpPr>
            <a:spLocks noGrp="1"/>
          </p:cNvSpPr>
          <p:nvPr/>
        </p:nvSpPr>
        <p:spPr>
          <a:xfrm>
            <a:off x="647700" y="1428750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100" b="1">
                <a:solidFill>
                  <a:srgbClr val="FFFDF9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DF9"/>
                </a:solidFill>
                <a:latin typeface="Arial"/>
                <a:ea typeface="Arial"/>
                <a:cs typeface="Arial"/>
              </a:rPr>
              <a:t>EasyInvoice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04F65B-975A-4E0F-8BC4-140558674A17}"/>
              </a:ext>
            </a:extLst>
          </p:cNvPr>
          <p:cNvSpPr>
            <a:spLocks noGrp="1"/>
          </p:cNvSpPr>
          <p:nvPr/>
        </p:nvSpPr>
        <p:spPr>
          <a:xfrm>
            <a:off x="666750" y="2552700"/>
            <a:ext cx="5429250" cy="876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FFFDF9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FFFDF9"/>
                </a:solidFill>
                <a:latin typeface="Arial"/>
                <a:ea typeface="Arial"/>
                <a:cs typeface="Arial"/>
              </a:rPr>
              <a:t>React learning project</a:t>
            </a:r>
          </a:p>
          <a:p>
            <a:pPr>
              <a:defRPr sz="2400" b="0">
                <a:solidFill>
                  <a:srgbClr val="FFFDF9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FFFDF9"/>
                </a:solidFill>
                <a:latin typeface="Arial"/>
                <a:ea typeface="Arial"/>
                <a:cs typeface="Arial"/>
              </a:rPr>
              <a:t>for B2B e-invoicing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125C0F-537A-4F90-B175-108181D6C2D6}"/>
              </a:ext>
            </a:extLst>
          </p:cNvPr>
          <p:cNvSpPr>
            <a:spLocks noGrp="1"/>
          </p:cNvSpPr>
          <p:nvPr/>
        </p:nvSpPr>
        <p:spPr>
          <a:xfrm>
            <a:off x="666750" y="3733800"/>
            <a:ext cx="5429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EDB86C"/>
                </a:solidFill>
                <a:latin typeface="Arial"/>
                <a:ea typeface="Arial"/>
                <a:cs typeface="Arial"/>
              </a:defRPr>
            </a:pPr>
            <a:r>
              <a:rPr sz="1950" b="1" dirty="0">
                <a:solidFill>
                  <a:srgbClr val="EDB86C"/>
                </a:solidFill>
                <a:latin typeface="Arial"/>
                <a:ea typeface="Arial"/>
                <a:cs typeface="Arial"/>
              </a:rPr>
              <a:t>NTU AI Engineering, Module 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571D75-0351-4DF9-A1ED-7A3C08B197CD}"/>
              </a:ext>
            </a:extLst>
          </p:cNvPr>
          <p:cNvSpPr>
            <a:spLocks noGrp="1"/>
          </p:cNvSpPr>
          <p:nvPr/>
        </p:nvSpPr>
        <p:spPr>
          <a:xfrm>
            <a:off x="6838950" y="1028700"/>
            <a:ext cx="42862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1">
                <a:solidFill>
                  <a:srgbClr val="EDB86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DB86C"/>
                </a:solidFill>
                <a:latin typeface="Arial"/>
                <a:ea typeface="Arial"/>
                <a:cs typeface="Arial"/>
              </a:rPr>
              <a:t>TEAM 6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F00682-F270-45BE-B76B-5B055F0E38AA}"/>
              </a:ext>
            </a:extLst>
          </p:cNvPr>
          <p:cNvSpPr>
            <a:spLocks noGrp="1"/>
          </p:cNvSpPr>
          <p:nvPr/>
        </p:nvSpPr>
        <p:spPr>
          <a:xfrm>
            <a:off x="6515100" y="1543050"/>
            <a:ext cx="1428750" cy="1428750"/>
          </a:xfrm>
          <a:prstGeom prst="ellipse">
            <a:avLst/>
          </a:prstGeom>
          <a:solidFill>
            <a:srgbClr val="FFFD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rcRect t="11170" b="11170"/>
          <a:stretch>
            <a:fillRect/>
          </a:stretch>
        </p:blipFill>
        <p:spPr>
          <a:xfrm>
            <a:off x="6572250" y="1600200"/>
            <a:ext cx="1314450" cy="1314450"/>
          </a:xfrm>
          <a:prstGeom prst="ellipse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8A4F339-A9C2-4DB9-ABAE-54C6D64C1996}"/>
              </a:ext>
            </a:extLst>
          </p:cNvPr>
          <p:cNvSpPr>
            <a:spLocks noGrp="1"/>
          </p:cNvSpPr>
          <p:nvPr/>
        </p:nvSpPr>
        <p:spPr>
          <a:xfrm>
            <a:off x="6400800" y="3105150"/>
            <a:ext cx="165735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1">
                <a:solidFill>
                  <a:srgbClr val="FFFDF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DF9"/>
                </a:solidFill>
                <a:latin typeface="Arial"/>
                <a:ea typeface="Arial"/>
                <a:cs typeface="Arial"/>
              </a:rPr>
              <a:t>Ralph Koh</a:t>
            </a:r>
          </a:p>
          <a:p>
            <a:pPr>
              <a:defRPr sz="1800" b="1">
                <a:solidFill>
                  <a:srgbClr val="FFFDF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DF9"/>
                </a:solidFill>
                <a:latin typeface="Arial"/>
                <a:ea typeface="Arial"/>
                <a:cs typeface="Arial"/>
              </a:rPr>
              <a:t>Kwan Liang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8C85996-6319-4925-8C34-1E9A56233AB1}"/>
              </a:ext>
            </a:extLst>
          </p:cNvPr>
          <p:cNvSpPr>
            <a:spLocks noGrp="1"/>
          </p:cNvSpPr>
          <p:nvPr/>
        </p:nvSpPr>
        <p:spPr>
          <a:xfrm>
            <a:off x="8362950" y="1543050"/>
            <a:ext cx="1428750" cy="1428750"/>
          </a:xfrm>
          <a:prstGeom prst="ellipse">
            <a:avLst/>
          </a:prstGeom>
          <a:solidFill>
            <a:srgbClr val="FFFD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4"/>
          <a:srcRect t="12454" b="12454"/>
          <a:stretch>
            <a:fillRect/>
          </a:stretch>
        </p:blipFill>
        <p:spPr>
          <a:xfrm>
            <a:off x="8420100" y="1600200"/>
            <a:ext cx="1314450" cy="1314450"/>
          </a:xfrm>
          <a:prstGeom prst="ellipse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2612257-0F36-440A-AE46-EDD4B610E1E3}"/>
              </a:ext>
            </a:extLst>
          </p:cNvPr>
          <p:cNvSpPr>
            <a:spLocks noGrp="1"/>
          </p:cNvSpPr>
          <p:nvPr/>
        </p:nvSpPr>
        <p:spPr>
          <a:xfrm>
            <a:off x="8248650" y="3105150"/>
            <a:ext cx="165735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1">
                <a:solidFill>
                  <a:srgbClr val="FFFDF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DF9"/>
                </a:solidFill>
                <a:latin typeface="Arial"/>
                <a:ea typeface="Arial"/>
                <a:cs typeface="Arial"/>
              </a:rPr>
              <a:t>Ang Jenn</a:t>
            </a:r>
          </a:p>
          <a:p>
            <a:pPr>
              <a:defRPr sz="1800" b="1">
                <a:solidFill>
                  <a:srgbClr val="FFFDF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DF9"/>
                </a:solidFill>
                <a:latin typeface="Arial"/>
                <a:ea typeface="Arial"/>
                <a:cs typeface="Arial"/>
              </a:rPr>
              <a:t>Fang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917E8C-8199-4C07-8E13-860877AE3358}"/>
              </a:ext>
            </a:extLst>
          </p:cNvPr>
          <p:cNvSpPr>
            <a:spLocks noGrp="1"/>
          </p:cNvSpPr>
          <p:nvPr/>
        </p:nvSpPr>
        <p:spPr>
          <a:xfrm>
            <a:off x="10210800" y="1543050"/>
            <a:ext cx="1428750" cy="1428750"/>
          </a:xfrm>
          <a:prstGeom prst="ellipse">
            <a:avLst/>
          </a:prstGeom>
          <a:solidFill>
            <a:srgbClr val="FFFD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267950" y="1600200"/>
            <a:ext cx="1314450" cy="1314450"/>
          </a:xfrm>
          <a:prstGeom prst="ellipse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9983D24-5364-4F0A-843D-9D6D70B6C48E}"/>
              </a:ext>
            </a:extLst>
          </p:cNvPr>
          <p:cNvSpPr>
            <a:spLocks noGrp="1"/>
          </p:cNvSpPr>
          <p:nvPr/>
        </p:nvSpPr>
        <p:spPr>
          <a:xfrm>
            <a:off x="10096500" y="3105150"/>
            <a:ext cx="165735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1">
                <a:solidFill>
                  <a:srgbClr val="FFFDF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DF9"/>
                </a:solidFill>
                <a:latin typeface="Arial"/>
                <a:ea typeface="Arial"/>
                <a:cs typeface="Arial"/>
              </a:rPr>
              <a:t>John</a:t>
            </a:r>
          </a:p>
          <a:p>
            <a:pPr>
              <a:defRPr sz="1800" b="1">
                <a:solidFill>
                  <a:srgbClr val="FFFDF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DF9"/>
                </a:solidFill>
                <a:latin typeface="Arial"/>
                <a:ea typeface="Arial"/>
                <a:cs typeface="Arial"/>
              </a:rPr>
              <a:t>Phang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E574C0-2A27-4246-8B1D-F151F2FA5B76}"/>
              </a:ext>
            </a:extLst>
          </p:cNvPr>
          <p:cNvSpPr>
            <a:spLocks noGrp="1"/>
          </p:cNvSpPr>
          <p:nvPr/>
        </p:nvSpPr>
        <p:spPr>
          <a:xfrm>
            <a:off x="666750" y="5810250"/>
            <a:ext cx="59055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EDB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B86C"/>
                </a:solidFill>
                <a:latin typeface="Arial"/>
                <a:ea typeface="Arial"/>
                <a:cs typeface="Arial"/>
              </a:rPr>
              <a:t>Live demo follows this short overview</a:t>
            </a:r>
          </a:p>
        </p:txBody>
      </p:sp>
    </p:spTree>
    <p:extLst>
      <p:ext uri="{BB962C8B-B14F-4D97-AF65-F5344CB8AC3E}">
        <p14:creationId xmlns:p14="http://schemas.microsoft.com/office/powerpoint/2010/main" val="95361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DA481DF-A516-45DB-9816-6089587A0EF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B211F"/>
                </a:solidFill>
                <a:latin typeface="Arial"/>
                <a:ea typeface="Arial"/>
                <a:cs typeface="Arial"/>
              </a:rPr>
              <a:t>Problem and audience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B49653-3074-4C02-9FCC-BC7066999C66}"/>
              </a:ext>
            </a:extLst>
          </p:cNvPr>
          <p:cNvSpPr>
            <a:spLocks noGrp="1"/>
          </p:cNvSpPr>
          <p:nvPr/>
        </p:nvSpPr>
        <p:spPr>
          <a:xfrm>
            <a:off x="609600" y="971550"/>
            <a:ext cx="914400" cy="57150"/>
          </a:xfrm>
          <a:prstGeom prst="rect">
            <a:avLst/>
          </a:prstGeom>
          <a:solidFill>
            <a:srgbClr val="EDB86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4F490F-171C-4CCC-A296-73E8F2329F0C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5334000" cy="1066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1">
                <a:solidFill>
                  <a:srgbClr val="0E3C7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3C75"/>
                </a:solidFill>
                <a:latin typeface="Arial"/>
                <a:ea typeface="Arial"/>
                <a:cs typeface="Arial"/>
              </a:rPr>
              <a:t>Invoice work spans creation,</a:t>
            </a:r>
          </a:p>
          <a:p>
            <a:pPr>
              <a:defRPr sz="2550" b="1">
                <a:solidFill>
                  <a:srgbClr val="0E3C7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3C75"/>
                </a:solidFill>
                <a:latin typeface="Arial"/>
                <a:ea typeface="Arial"/>
                <a:cs typeface="Arial"/>
              </a:rPr>
              <a:t>transmission and payment status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E57CCC-6BD7-4EA0-BC65-64079AECCEE1}"/>
              </a:ext>
            </a:extLst>
          </p:cNvPr>
          <p:cNvSpPr>
            <a:spLocks noGrp="1"/>
          </p:cNvSpPr>
          <p:nvPr/>
        </p:nvSpPr>
        <p:spPr>
          <a:xfrm>
            <a:off x="609600" y="2276361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A45F3F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A45F3F"/>
                </a:solidFill>
                <a:latin typeface="Arial"/>
                <a:ea typeface="Arial"/>
                <a:cs typeface="Arial"/>
              </a:rPr>
              <a:t>Audience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269A88-DC1B-4882-9A89-C9567C3B54B4}"/>
              </a:ext>
            </a:extLst>
          </p:cNvPr>
          <p:cNvSpPr>
            <a:spLocks noGrp="1"/>
          </p:cNvSpPr>
          <p:nvPr/>
        </p:nvSpPr>
        <p:spPr>
          <a:xfrm>
            <a:off x="609600" y="2638311"/>
            <a:ext cx="4953000" cy="781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2100" b="0" dirty="0">
                <a:solidFill>
                  <a:srgbClr val="1B211F"/>
                </a:solidFill>
                <a:latin typeface="Arial"/>
                <a:ea typeface="Arial"/>
                <a:cs typeface="Arial"/>
              </a:rPr>
              <a:t>Small business finance and accounts receivable teams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C0297C-01C5-4A4E-8159-0816E6D018C1}"/>
              </a:ext>
            </a:extLst>
          </p:cNvPr>
          <p:cNvSpPr>
            <a:spLocks noGrp="1"/>
          </p:cNvSpPr>
          <p:nvPr/>
        </p:nvSpPr>
        <p:spPr>
          <a:xfrm>
            <a:off x="609600" y="3628911"/>
            <a:ext cx="190500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A45F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45F3F"/>
                </a:solidFill>
                <a:latin typeface="Arial"/>
                <a:ea typeface="Arial"/>
                <a:cs typeface="Arial"/>
              </a:rPr>
              <a:t>EasyInvoice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FB7A62-0692-4A61-8326-9197309C0D5D}"/>
              </a:ext>
            </a:extLst>
          </p:cNvPr>
          <p:cNvSpPr>
            <a:spLocks noGrp="1"/>
          </p:cNvSpPr>
          <p:nvPr/>
        </p:nvSpPr>
        <p:spPr>
          <a:xfrm>
            <a:off x="609600" y="3990861"/>
            <a:ext cx="49530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A browser demo of the invoice lifecycle using Singapore InvoiceNow concepts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A0BDB-1848-4D04-B971-0837033909DC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347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https://aie1f-easyinvoice.vercel.app</a:t>
            </a:r>
            <a:endParaRPr lang="en-US" dirty="0"/>
          </a:p>
          <a:p>
            <a:pPr>
              <a:spcAft>
                <a:spcPts val="800"/>
              </a:spcAft>
              <a:defRPr sz="1800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lang="en-US" dirty="0">
                <a:solidFill>
                  <a:srgbClr val="467886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</a:t>
            </a: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/NTU-AIE1F-Team6/m2-b2b-invoice-mgmt-sys</a:t>
            </a:r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4BF8722-6C49-4A3C-A9A9-9A1323200458}"/>
              </a:ext>
            </a:extLst>
          </p:cNvPr>
          <p:cNvSpPr>
            <a:spLocks noGrp="1"/>
          </p:cNvSpPr>
          <p:nvPr/>
        </p:nvSpPr>
        <p:spPr>
          <a:xfrm>
            <a:off x="6210300" y="1022554"/>
            <a:ext cx="5334000" cy="4953000"/>
          </a:xfrm>
          <a:prstGeom prst="roundRect">
            <a:avLst>
              <a:gd name="adj" fmla="val 1538"/>
            </a:avLst>
          </a:prstGeom>
          <a:solidFill>
            <a:srgbClr val="FFFDF9"/>
          </a:solidFill>
          <a:ln w="0"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77000" y="1696323"/>
            <a:ext cx="4800600" cy="397970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1E92752-315C-85C6-5844-F39928577B3A}"/>
              </a:ext>
            </a:extLst>
          </p:cNvPr>
          <p:cNvSpPr>
            <a:spLocks noGrp="1"/>
          </p:cNvSpPr>
          <p:nvPr/>
        </p:nvSpPr>
        <p:spPr>
          <a:xfrm>
            <a:off x="609600" y="4867161"/>
            <a:ext cx="4857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1F5552"/>
                </a:solidFill>
                <a:latin typeface="Arial"/>
                <a:ea typeface="Arial"/>
                <a:cs typeface="Arial"/>
              </a:rPr>
              <a:t>Simulated network. Synthetic data only.</a:t>
            </a:r>
          </a:p>
        </p:txBody>
      </p:sp>
    </p:spTree>
    <p:extLst>
      <p:ext uri="{BB962C8B-B14F-4D97-AF65-F5344CB8AC3E}">
        <p14:creationId xmlns:p14="http://schemas.microsoft.com/office/powerpoint/2010/main" val="869372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FF97830-2340-43B1-887F-1A85413E4535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B211F"/>
                </a:solidFill>
                <a:latin typeface="Arial"/>
                <a:ea typeface="Arial"/>
                <a:cs typeface="Arial"/>
              </a:rPr>
              <a:t>Working application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32A1CB-D555-4586-8AAB-965681033830}"/>
              </a:ext>
            </a:extLst>
          </p:cNvPr>
          <p:cNvSpPr>
            <a:spLocks noGrp="1"/>
          </p:cNvSpPr>
          <p:nvPr/>
        </p:nvSpPr>
        <p:spPr>
          <a:xfrm>
            <a:off x="609600" y="971550"/>
            <a:ext cx="914400" cy="57150"/>
          </a:xfrm>
          <a:prstGeom prst="rect">
            <a:avLst/>
          </a:prstGeom>
          <a:solidFill>
            <a:srgbClr val="EDB86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9A3FF9F-7A53-4ADB-B4CE-A6BE731D29C1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5391150" cy="4819650"/>
          </a:xfrm>
          <a:prstGeom prst="roundRect">
            <a:avLst>
              <a:gd name="adj" fmla="val 1581"/>
            </a:avLst>
          </a:prstGeom>
          <a:solidFill>
            <a:srgbClr val="FFFD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31EFDE7-7517-44C9-8200-0F660198B6BF}"/>
              </a:ext>
            </a:extLst>
          </p:cNvPr>
          <p:cNvSpPr>
            <a:spLocks noGrp="1"/>
          </p:cNvSpPr>
          <p:nvPr/>
        </p:nvSpPr>
        <p:spPr>
          <a:xfrm>
            <a:off x="6267450" y="1257300"/>
            <a:ext cx="5391150" cy="4819650"/>
          </a:xfrm>
          <a:prstGeom prst="roundRect">
            <a:avLst>
              <a:gd name="adj" fmla="val 1581"/>
            </a:avLst>
          </a:prstGeom>
          <a:solidFill>
            <a:srgbClr val="FFFD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13709C-FAF3-42B5-8DFA-12DCEFE14747}"/>
              </a:ext>
            </a:extLst>
          </p:cNvPr>
          <p:cNvSpPr>
            <a:spLocks noGrp="1"/>
          </p:cNvSpPr>
          <p:nvPr/>
        </p:nvSpPr>
        <p:spPr>
          <a:xfrm>
            <a:off x="762000" y="1428750"/>
            <a:ext cx="2190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F5552"/>
                </a:solidFill>
                <a:latin typeface="Arial"/>
                <a:ea typeface="Arial"/>
                <a:cs typeface="Arial"/>
              </a:rPr>
              <a:t>Dashboard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2EC7E8-4313-46C6-85B4-566963F695FB}"/>
              </a:ext>
            </a:extLst>
          </p:cNvPr>
          <p:cNvSpPr>
            <a:spLocks noGrp="1"/>
          </p:cNvSpPr>
          <p:nvPr/>
        </p:nvSpPr>
        <p:spPr>
          <a:xfrm>
            <a:off x="762000" y="1790700"/>
            <a:ext cx="428625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5F666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6662"/>
                </a:solidFill>
                <a:latin typeface="Arial"/>
                <a:ea typeface="Arial"/>
                <a:cs typeface="Arial"/>
              </a:rPr>
              <a:t>Search, filter, status and actions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rcRect t="16244" b="16244"/>
          <a:stretch>
            <a:fillRect/>
          </a:stretch>
        </p:blipFill>
        <p:spPr>
          <a:xfrm>
            <a:off x="762000" y="2209800"/>
            <a:ext cx="4933950" cy="3619500"/>
          </a:xfrm>
          <a:prstGeom prst="roundRect">
            <a:avLst>
              <a:gd name="adj" fmla="val 2105"/>
            </a:avLst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D6C7F66-F58C-4A15-84A7-272647BA1C95}"/>
              </a:ext>
            </a:extLst>
          </p:cNvPr>
          <p:cNvSpPr>
            <a:spLocks noGrp="1"/>
          </p:cNvSpPr>
          <p:nvPr/>
        </p:nvSpPr>
        <p:spPr>
          <a:xfrm>
            <a:off x="6496050" y="14287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F5552"/>
                </a:solidFill>
                <a:latin typeface="Arial"/>
                <a:ea typeface="Arial"/>
                <a:cs typeface="Arial"/>
              </a:rPr>
              <a:t>Create invoice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5452DD-A8BB-4E66-9CDA-1FD7780D96BC}"/>
              </a:ext>
            </a:extLst>
          </p:cNvPr>
          <p:cNvSpPr>
            <a:spLocks noGrp="1"/>
          </p:cNvSpPr>
          <p:nvPr/>
        </p:nvSpPr>
        <p:spPr>
          <a:xfrm>
            <a:off x="6496050" y="1790700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5F666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6662"/>
                </a:solidFill>
                <a:latin typeface="Arial"/>
                <a:ea typeface="Arial"/>
                <a:cs typeface="Arial"/>
              </a:rPr>
              <a:t>Controlled form, catalogue items and GST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4"/>
          <a:srcRect t="1341" b="1341"/>
          <a:stretch>
            <a:fillRect/>
          </a:stretch>
        </p:blipFill>
        <p:spPr>
          <a:xfrm>
            <a:off x="6496050" y="2209800"/>
            <a:ext cx="4933950" cy="3619500"/>
          </a:xfrm>
          <a:prstGeom prst="roundRect">
            <a:avLst>
              <a:gd name="adj" fmla="val 2105"/>
            </a:avLst>
          </a:prstGeom>
        </p:spPr>
      </p:pic>
    </p:spTree>
    <p:extLst>
      <p:ext uri="{BB962C8B-B14F-4D97-AF65-F5344CB8AC3E}">
        <p14:creationId xmlns:p14="http://schemas.microsoft.com/office/powerpoint/2010/main" val="2102868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F7CF72A-B066-46ED-94EF-4C29E0F90AED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B211F"/>
                </a:solidFill>
                <a:latin typeface="Arial"/>
                <a:ea typeface="Arial"/>
                <a:cs typeface="Arial"/>
              </a:rPr>
              <a:t>Technology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194374-6A5A-4B4B-B0D7-8D87ADDC1519}"/>
              </a:ext>
            </a:extLst>
          </p:cNvPr>
          <p:cNvSpPr>
            <a:spLocks noGrp="1"/>
          </p:cNvSpPr>
          <p:nvPr/>
        </p:nvSpPr>
        <p:spPr>
          <a:xfrm>
            <a:off x="609600" y="971550"/>
            <a:ext cx="914400" cy="57150"/>
          </a:xfrm>
          <a:prstGeom prst="rect">
            <a:avLst/>
          </a:prstGeom>
          <a:solidFill>
            <a:srgbClr val="EDB86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A75E87-984C-4667-ABF6-0C3EB62DDD2F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428625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F5552"/>
                </a:solidFill>
                <a:latin typeface="Arial"/>
                <a:ea typeface="Arial"/>
                <a:cs typeface="Arial"/>
              </a:rPr>
              <a:t>React 19 + Vite 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AB40C6-C050-48FA-97D5-29C6CE80EDE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Components, hooks and fast local builds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80008C-3B52-48B6-A3E6-6BD73CA69FF2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4762500" cy="19050"/>
          </a:xfrm>
          <a:prstGeom prst="rect">
            <a:avLst/>
          </a:prstGeom>
          <a:solidFill>
            <a:srgbClr val="D5D8D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79ADA8-0359-499F-A29E-2D2E943C107D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428625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F5552"/>
                </a:solidFill>
                <a:latin typeface="Arial"/>
                <a:ea typeface="Arial"/>
                <a:cs typeface="Arial"/>
              </a:rPr>
              <a:t>React Router 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8E90FB-7430-4E69-80CC-54F4CE154986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Public login/tour and protected app routes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4F2A7D-7540-4013-81A5-0F67A370E479}"/>
              </a:ext>
            </a:extLst>
          </p:cNvPr>
          <p:cNvSpPr>
            <a:spLocks noGrp="1"/>
          </p:cNvSpPr>
          <p:nvPr/>
        </p:nvSpPr>
        <p:spPr>
          <a:xfrm>
            <a:off x="609600" y="3181350"/>
            <a:ext cx="4762500" cy="19050"/>
          </a:xfrm>
          <a:prstGeom prst="rect">
            <a:avLst/>
          </a:prstGeom>
          <a:solidFill>
            <a:srgbClr val="D5D8D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0D43AF-BE57-41C5-BA16-ED755FBECBAE}"/>
              </a:ext>
            </a:extLst>
          </p:cNvPr>
          <p:cNvSpPr>
            <a:spLocks noGrp="1"/>
          </p:cNvSpPr>
          <p:nvPr/>
        </p:nvSpPr>
        <p:spPr>
          <a:xfrm>
            <a:off x="609600" y="3276600"/>
            <a:ext cx="428625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F5552"/>
                </a:solidFill>
                <a:latin typeface="Arial"/>
                <a:ea typeface="Arial"/>
                <a:cs typeface="Arial"/>
              </a:rPr>
              <a:t>MockAPI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F68B7B-4EAA-491A-A242-D968561819F1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Shared CRUD persistence, no custom server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47CF12-85F9-469E-B462-7F718523A14A}"/>
              </a:ext>
            </a:extLst>
          </p:cNvPr>
          <p:cNvSpPr>
            <a:spLocks noGrp="1"/>
          </p:cNvSpPr>
          <p:nvPr/>
        </p:nvSpPr>
        <p:spPr>
          <a:xfrm>
            <a:off x="609600" y="4152900"/>
            <a:ext cx="4762500" cy="19050"/>
          </a:xfrm>
          <a:prstGeom prst="rect">
            <a:avLst/>
          </a:prstGeom>
          <a:solidFill>
            <a:srgbClr val="D5D8D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3CD8FB-563C-4327-A09C-19E74FBB5055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28625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F5552"/>
                </a:solidFill>
                <a:latin typeface="Arial"/>
                <a:ea typeface="Arial"/>
                <a:cs typeface="Arial"/>
              </a:rPr>
              <a:t>Vitest + React Testing Library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3C4613-E541-4D4C-8527-6D1A0E4818E4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37 behaviour tests in GitHub Actions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491424-E82F-42B4-B729-C83A234A1574}"/>
              </a:ext>
            </a:extLst>
          </p:cNvPr>
          <p:cNvSpPr>
            <a:spLocks noGrp="1"/>
          </p:cNvSpPr>
          <p:nvPr/>
        </p:nvSpPr>
        <p:spPr>
          <a:xfrm>
            <a:off x="609600" y="5124450"/>
            <a:ext cx="4762500" cy="19050"/>
          </a:xfrm>
          <a:prstGeom prst="rect">
            <a:avLst/>
          </a:prstGeom>
          <a:solidFill>
            <a:srgbClr val="D5D8D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F98A72-7F29-4EC6-9E3F-9389C3538C34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428625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1">
                <a:solidFill>
                  <a:srgbClr val="1F555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F5552"/>
                </a:solidFill>
                <a:latin typeface="Arial"/>
                <a:ea typeface="Arial"/>
                <a:cs typeface="Arial"/>
              </a:rPr>
              <a:t>Public APIs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BA2735-4D07-4AFA-B41C-00F281535D4B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FX rates and illustrative customer contacts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714BFAB-CB50-45AB-A83C-00969BACEF63}"/>
              </a:ext>
            </a:extLst>
          </p:cNvPr>
          <p:cNvSpPr>
            <a:spLocks noGrp="1"/>
          </p:cNvSpPr>
          <p:nvPr/>
        </p:nvSpPr>
        <p:spPr>
          <a:xfrm>
            <a:off x="5905500" y="1257300"/>
            <a:ext cx="5676900" cy="4838700"/>
          </a:xfrm>
          <a:prstGeom prst="roundRect">
            <a:avLst>
              <a:gd name="adj" fmla="val 1575"/>
            </a:avLst>
          </a:prstGeom>
          <a:solidFill>
            <a:srgbClr val="FFFD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3DEE08-8E9D-4349-A361-1738AD829F77}"/>
              </a:ext>
            </a:extLst>
          </p:cNvPr>
          <p:cNvSpPr>
            <a:spLocks noGrp="1"/>
          </p:cNvSpPr>
          <p:nvPr/>
        </p:nvSpPr>
        <p:spPr>
          <a:xfrm>
            <a:off x="6172200" y="1447800"/>
            <a:ext cx="40005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A45F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A45F3F"/>
                </a:solidFill>
                <a:latin typeface="Arial"/>
                <a:ea typeface="Arial"/>
                <a:cs typeface="Arial"/>
              </a:rPr>
              <a:t>MockAPI reference data</a:t>
            </a:r>
          </a:p>
        </p:txBody>
      </p:sp>
      <p:pic>
        <p:nvPicPr>
          <p:cNvPr id="38" name="Picture 37"/>
          <p:cNvPicPr>
            <a:picLocks noChangeAspect="1"/>
          </p:cNvPicPr>
          <p:nvPr/>
        </p:nvPicPr>
        <p:blipFill>
          <a:blip r:embed="rId3"/>
          <a:srcRect l="2238" r="2238"/>
          <a:stretch>
            <a:fillRect/>
          </a:stretch>
        </p:blipFill>
        <p:spPr>
          <a:xfrm>
            <a:off x="6172200" y="1924050"/>
            <a:ext cx="5143500" cy="3886200"/>
          </a:xfrm>
          <a:prstGeom prst="roundRect">
            <a:avLst>
              <a:gd name="adj" fmla="val 1961"/>
            </a:avLst>
          </a:prstGeom>
        </p:spPr>
      </p:pic>
    </p:spTree>
    <p:extLst>
      <p:ext uri="{BB962C8B-B14F-4D97-AF65-F5344CB8AC3E}">
        <p14:creationId xmlns:p14="http://schemas.microsoft.com/office/powerpoint/2010/main" val="1703730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CB5DC34-2809-40EE-909C-BD1B7CCEA8C2}"/>
              </a:ext>
            </a:extLst>
          </p:cNvPr>
          <p:cNvSpPr>
            <a:spLocks noGrp="1"/>
          </p:cNvSpPr>
          <p:nvPr/>
        </p:nvSpPr>
        <p:spPr>
          <a:xfrm>
            <a:off x="762000" y="361950"/>
            <a:ext cx="103251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B211F"/>
                </a:solidFill>
                <a:latin typeface="Arial"/>
                <a:ea typeface="Arial"/>
                <a:cs typeface="Arial"/>
              </a:rPr>
              <a:t>Team learnings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D57322-E402-4575-9D51-A4042D0BBB98}"/>
              </a:ext>
            </a:extLst>
          </p:cNvPr>
          <p:cNvSpPr>
            <a:spLocks noGrp="1"/>
          </p:cNvSpPr>
          <p:nvPr/>
        </p:nvSpPr>
        <p:spPr>
          <a:xfrm>
            <a:off x="762000" y="971550"/>
            <a:ext cx="914400" cy="57150"/>
          </a:xfrm>
          <a:prstGeom prst="rect">
            <a:avLst/>
          </a:prstGeom>
          <a:solidFill>
            <a:srgbClr val="EDB86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D89D37-C6F1-4ED1-B086-CA1079FE1354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40005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A45F3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A45F3F"/>
                </a:solidFill>
                <a:latin typeface="Arial"/>
                <a:ea typeface="Arial"/>
                <a:cs typeface="Arial"/>
              </a:rPr>
              <a:t>Ralph Koh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AB717C-6961-41EE-8DD6-B70D68F37EB5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4953000" cy="781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Structured a complete React app with reusable components, routes and shared state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93E120-AED4-425C-846D-2E670BAB3E80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4953000" cy="19050"/>
          </a:xfrm>
          <a:prstGeom prst="rect">
            <a:avLst/>
          </a:prstGeom>
          <a:solidFill>
            <a:srgbClr val="D5D8D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3177A2-5DCD-43D4-9C85-9FF9FEC1D71C}"/>
              </a:ext>
            </a:extLst>
          </p:cNvPr>
          <p:cNvSpPr>
            <a:spLocks noGrp="1"/>
          </p:cNvSpPr>
          <p:nvPr/>
        </p:nvSpPr>
        <p:spPr>
          <a:xfrm>
            <a:off x="609600" y="3048000"/>
            <a:ext cx="40005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A45F3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A45F3F"/>
                </a:solidFill>
                <a:latin typeface="Arial"/>
                <a:ea typeface="Arial"/>
                <a:cs typeface="Arial"/>
              </a:rPr>
              <a:t>Ang Jenn Fang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1D7807-EB75-4038-A367-3E00EF2D38BD}"/>
              </a:ext>
            </a:extLst>
          </p:cNvPr>
          <p:cNvSpPr>
            <a:spLocks noGrp="1"/>
          </p:cNvSpPr>
          <p:nvPr/>
        </p:nvSpPr>
        <p:spPr>
          <a:xfrm>
            <a:off x="609600" y="3486150"/>
            <a:ext cx="4953000" cy="781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Tested user behaviour with Vitest, React Testing Library and mocks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B47681-96C0-41B5-98A1-96605B60649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4953000" cy="19050"/>
          </a:xfrm>
          <a:prstGeom prst="rect">
            <a:avLst/>
          </a:prstGeom>
          <a:solidFill>
            <a:srgbClr val="D5D8D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21A5C6-1ADC-4539-9FD4-678CE027599B}"/>
              </a:ext>
            </a:extLst>
          </p:cNvPr>
          <p:cNvSpPr>
            <a:spLocks noGrp="1"/>
          </p:cNvSpPr>
          <p:nvPr/>
        </p:nvSpPr>
        <p:spPr>
          <a:xfrm>
            <a:off x="609600" y="4629150"/>
            <a:ext cx="40005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A45F3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A45F3F"/>
                </a:solidFill>
                <a:latin typeface="Arial"/>
                <a:ea typeface="Arial"/>
                <a:cs typeface="Arial"/>
              </a:rPr>
              <a:t>John Phang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19C4D6-021F-4A02-B01E-893A7A7EC661}"/>
              </a:ext>
            </a:extLst>
          </p:cNvPr>
          <p:cNvSpPr>
            <a:spLocks noGrp="1"/>
          </p:cNvSpPr>
          <p:nvPr/>
        </p:nvSpPr>
        <p:spPr>
          <a:xfrm>
            <a:off x="609600" y="5067300"/>
            <a:ext cx="4953000" cy="781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Integrated hosted persistence, role checks and CI across parallel branches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7E166EA-AEE1-4429-B4A6-1759398E727D}"/>
              </a:ext>
            </a:extLst>
          </p:cNvPr>
          <p:cNvSpPr>
            <a:spLocks noGrp="1"/>
          </p:cNvSpPr>
          <p:nvPr/>
        </p:nvSpPr>
        <p:spPr>
          <a:xfrm>
            <a:off x="6115050" y="1257300"/>
            <a:ext cx="5467350" cy="4857750"/>
          </a:xfrm>
          <a:prstGeom prst="roundRect">
            <a:avLst>
              <a:gd name="adj" fmla="val 1569"/>
            </a:avLst>
          </a:prstGeom>
          <a:solidFill>
            <a:srgbClr val="FFFD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rcRect t="6328" b="6328"/>
          <a:stretch>
            <a:fillRect/>
          </a:stretch>
        </p:blipFill>
        <p:spPr>
          <a:xfrm>
            <a:off x="6362700" y="1447800"/>
            <a:ext cx="4972050" cy="4457700"/>
          </a:xfrm>
          <a:prstGeom prst="roundRect">
            <a:avLst>
              <a:gd name="adj" fmla="val 1709"/>
            </a:avLst>
          </a:prstGeom>
        </p:spPr>
      </p:pic>
    </p:spTree>
    <p:extLst>
      <p:ext uri="{BB962C8B-B14F-4D97-AF65-F5344CB8AC3E}">
        <p14:creationId xmlns:p14="http://schemas.microsoft.com/office/powerpoint/2010/main" val="823534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983269A-7D10-4D33-9DE6-A76944842CB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B211F"/>
                </a:solidFill>
                <a:latin typeface="Arial"/>
                <a:ea typeface="Arial"/>
                <a:cs typeface="Arial"/>
              </a:rPr>
              <a:t>Challenges and responses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D2EDB3-81F2-49E1-AFB2-22350A2A1F2D}"/>
              </a:ext>
            </a:extLst>
          </p:cNvPr>
          <p:cNvSpPr>
            <a:spLocks noGrp="1"/>
          </p:cNvSpPr>
          <p:nvPr/>
        </p:nvSpPr>
        <p:spPr>
          <a:xfrm>
            <a:off x="609600" y="971550"/>
            <a:ext cx="914400" cy="57150"/>
          </a:xfrm>
          <a:prstGeom prst="rect">
            <a:avLst/>
          </a:prstGeom>
          <a:solidFill>
            <a:srgbClr val="EDB86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EF3BAB-6C28-4C5D-A135-56861D04825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6286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E3C75"/>
                </a:solidFill>
                <a:latin typeface="Arial"/>
                <a:ea typeface="Arial"/>
                <a:cs typeface="Arial"/>
              </a:defRPr>
            </a:pPr>
            <a:r>
              <a:rPr sz="2100" b="1" dirty="0" err="1">
                <a:solidFill>
                  <a:srgbClr val="0E3C75"/>
                </a:solidFill>
                <a:latin typeface="Arial"/>
                <a:ea typeface="Arial"/>
                <a:cs typeface="Arial"/>
              </a:rPr>
              <a:t>MockAPI</a:t>
            </a:r>
            <a:r>
              <a:rPr sz="2100" b="1" dirty="0">
                <a:solidFill>
                  <a:srgbClr val="0E3C75"/>
                </a:solidFill>
                <a:latin typeface="Arial"/>
                <a:ea typeface="Arial"/>
                <a:cs typeface="Arial"/>
              </a:rPr>
              <a:t> allowed two resources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F6B2A0-7EB8-49C4-9558-8DDC309345D0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1B211F"/>
                </a:solidFill>
                <a:latin typeface="Arial"/>
                <a:ea typeface="Arial"/>
                <a:cs typeface="Arial"/>
              </a:rPr>
              <a:t>Customers and products share a typed </a:t>
            </a:r>
            <a:r>
              <a:rPr sz="1800" b="0" dirty="0" err="1">
                <a:solidFill>
                  <a:srgbClr val="1B211F"/>
                </a:solidFill>
                <a:latin typeface="Arial"/>
                <a:ea typeface="Arial"/>
                <a:cs typeface="Arial"/>
              </a:rPr>
              <a:t>referenceData</a:t>
            </a:r>
            <a:r>
              <a:rPr sz="1800" b="0" dirty="0">
                <a:solidFill>
                  <a:srgbClr val="1B211F"/>
                </a:solidFill>
                <a:latin typeface="Arial"/>
                <a:ea typeface="Arial"/>
                <a:cs typeface="Arial"/>
              </a:rPr>
              <a:t> resource</a:t>
            </a:r>
            <a:r>
              <a:rPr lang="en-US" sz="1800" b="0" dirty="0">
                <a:solidFill>
                  <a:srgbClr val="1B211F"/>
                </a:solidFill>
                <a:latin typeface="Arial"/>
                <a:ea typeface="Arial"/>
                <a:cs typeface="Arial"/>
              </a:rPr>
              <a:t> </a:t>
            </a:r>
            <a:endParaRPr sz="1800" b="0" dirty="0">
              <a:solidFill>
                <a:srgbClr val="1B211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65B90D-9152-4EC3-9A92-5AFD7C788F99}"/>
              </a:ext>
            </a:extLst>
          </p:cNvPr>
          <p:cNvSpPr>
            <a:spLocks noGrp="1"/>
          </p:cNvSpPr>
          <p:nvPr/>
        </p:nvSpPr>
        <p:spPr>
          <a:xfrm>
            <a:off x="609600" y="2495550"/>
            <a:ext cx="6191250" cy="19050"/>
          </a:xfrm>
          <a:prstGeom prst="rect">
            <a:avLst/>
          </a:prstGeom>
          <a:solidFill>
            <a:srgbClr val="D5D8D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6FEE38-12C3-4DC2-A0A0-70E6EFAD4B99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6286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E3C7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E3C75"/>
                </a:solidFill>
                <a:latin typeface="Arial"/>
                <a:ea typeface="Arial"/>
                <a:cs typeface="Arial"/>
              </a:rPr>
              <a:t>The schema editor could erase records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783393-4D07-448C-8253-D93C5D8300C7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The team documented the risk and added repeatable seed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E8E665-3C8B-47AB-84AD-0D368BC87C3E}"/>
              </a:ext>
            </a:extLst>
          </p:cNvPr>
          <p:cNvSpPr>
            <a:spLocks noGrp="1"/>
          </p:cNvSpPr>
          <p:nvPr/>
        </p:nvSpPr>
        <p:spPr>
          <a:xfrm>
            <a:off x="609600" y="3810000"/>
            <a:ext cx="6191250" cy="19050"/>
          </a:xfrm>
          <a:prstGeom prst="rect">
            <a:avLst/>
          </a:prstGeom>
          <a:solidFill>
            <a:srgbClr val="D5D8D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311749-DB51-4E9F-BF4E-ECACAF508E40}"/>
              </a:ext>
            </a:extLst>
          </p:cNvPr>
          <p:cNvSpPr>
            <a:spLocks noGrp="1"/>
          </p:cNvSpPr>
          <p:nvPr/>
        </p:nvSpPr>
        <p:spPr>
          <a:xfrm>
            <a:off x="609600" y="3981450"/>
            <a:ext cx="6286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E3C7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E3C75"/>
                </a:solidFill>
                <a:latin typeface="Arial"/>
                <a:ea typeface="Arial"/>
                <a:cs typeface="Arial"/>
              </a:rPr>
              <a:t>Session-key mismatch after integration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1363C9-3476-424F-B01A-E2550D706A33}"/>
              </a:ext>
            </a:extLst>
          </p:cNvPr>
          <p:cNvSpPr>
            <a:spLocks noGrp="1"/>
          </p:cNvSpPr>
          <p:nvPr/>
        </p:nvSpPr>
        <p:spPr>
          <a:xfrm>
            <a:off x="609600" y="441960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B211F"/>
                </a:solidFill>
                <a:latin typeface="Arial"/>
                <a:ea typeface="Arial"/>
                <a:cs typeface="Arial"/>
              </a:rPr>
              <a:t>Tests caught the regression before release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39966EE-B6E6-4D31-B5A1-2FCFE4F255EF}"/>
              </a:ext>
            </a:extLst>
          </p:cNvPr>
          <p:cNvSpPr>
            <a:spLocks noGrp="1"/>
          </p:cNvSpPr>
          <p:nvPr/>
        </p:nvSpPr>
        <p:spPr>
          <a:xfrm>
            <a:off x="7334250" y="1257300"/>
            <a:ext cx="4248150" cy="4095750"/>
          </a:xfrm>
          <a:prstGeom prst="roundRect">
            <a:avLst>
              <a:gd name="adj" fmla="val 1860"/>
            </a:avLst>
          </a:prstGeom>
          <a:solidFill>
            <a:srgbClr val="FFFD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rcRect l="265" r="265"/>
          <a:stretch>
            <a:fillRect/>
          </a:stretch>
        </p:blipFill>
        <p:spPr>
          <a:xfrm>
            <a:off x="7562850" y="1466850"/>
            <a:ext cx="3790950" cy="3676650"/>
          </a:xfrm>
          <a:prstGeom prst="roundRect">
            <a:avLst>
              <a:gd name="adj" fmla="val 2073"/>
            </a:avLst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6525C6-574F-4285-A2EC-477F077B8CC7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85800"/>
          </a:xfrm>
          <a:prstGeom prst="roundRect">
            <a:avLst>
              <a:gd name="adj" fmla="val 11111"/>
            </a:avLst>
          </a:prstGeom>
          <a:solidFill>
            <a:srgbClr val="EDB86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F5D15A-74CB-42D7-A293-B40758883536}"/>
              </a:ext>
            </a:extLst>
          </p:cNvPr>
          <p:cNvSpPr>
            <a:spLocks noGrp="1"/>
          </p:cNvSpPr>
          <p:nvPr/>
        </p:nvSpPr>
        <p:spPr>
          <a:xfrm>
            <a:off x="876300" y="581977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1B211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B211F"/>
                </a:solidFill>
                <a:latin typeface="Arial"/>
                <a:ea typeface="Arial"/>
                <a:cs typeface="Arial"/>
              </a:rPr>
              <a:t>Live demo next: viewer permissions, create and transmit, mark paid</a:t>
            </a:r>
          </a:p>
        </p:txBody>
      </p:sp>
    </p:spTree>
    <p:extLst>
      <p:ext uri="{BB962C8B-B14F-4D97-AF65-F5344CB8AC3E}">
        <p14:creationId xmlns:p14="http://schemas.microsoft.com/office/powerpoint/2010/main" val="18195477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593</Words>
  <Application>Microsoft Macintosh PowerPoint</Application>
  <DocSecurity>0</DocSecurity>
  <PresentationFormat>Widescreen</PresentationFormat>
  <Paragraphs>60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John Phang</cp:lastModifiedBy>
  <cp:revision>1</cp:revision>
  <dcterms:created xsi:type="dcterms:W3CDTF">2026-09-30T17:42:33Z</dcterms:created>
  <dcterms:modified xsi:type="dcterms:W3CDTF">2026-10-01T00:28:57Z</dcterms:modified>
</cp:coreProperties>
</file>