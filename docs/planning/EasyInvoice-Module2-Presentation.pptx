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" roundtripDataSignature="AMtx7mgdEOQ9IIkHbsCR7bv8m43lYGfR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0" Type="http://customschemas.google.com/relationships/presentationmetadata" Target="metadata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" name="Google Shape;33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" name="Google Shape;4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" name="Google Shape;6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8" name="Google Shape;88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jp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aie1f-easyinvoice.vercel.app/" TargetMode="External"/><Relationship Id="rId4" Type="http://schemas.openxmlformats.org/officeDocument/2006/relationships/hyperlink" Target="https://github.com/NTU-AIE1F-Team6/m2-b2b-invoice-mgmt-sys" TargetMode="External"/><Relationship Id="rId5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225E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47700" y="1066800"/>
            <a:ext cx="1066800" cy="95250"/>
          </a:xfrm>
          <a:prstGeom prst="rect">
            <a:avLst/>
          </a:prstGeom>
          <a:solidFill>
            <a:srgbClr val="EDB86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47700" y="1428750"/>
            <a:ext cx="57150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1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rPr>
              <a:t>EasyInvoice</a:t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666750" y="2552700"/>
            <a:ext cx="542925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rPr>
              <a:t>React learning project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rPr>
              <a:t>for B2B e-invoicing</a:t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666750" y="3733800"/>
            <a:ext cx="54292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50">
                <a:solidFill>
                  <a:srgbClr val="EDB86C"/>
                </a:solidFill>
              </a:rPr>
              <a:t>NTU SCTP - </a:t>
            </a:r>
            <a:r>
              <a:rPr b="1" lang="en-US" sz="1950">
                <a:solidFill>
                  <a:srgbClr val="EDB86C"/>
                </a:solidFill>
                <a:latin typeface="Arial"/>
                <a:ea typeface="Arial"/>
                <a:cs typeface="Arial"/>
                <a:sym typeface="Arial"/>
              </a:rPr>
              <a:t>AI Engineering</a:t>
            </a:r>
            <a:r>
              <a:rPr b="1" lang="en-US" sz="1950">
                <a:solidFill>
                  <a:srgbClr val="EDB86C"/>
                </a:solidFill>
                <a:latin typeface="Arial"/>
                <a:ea typeface="Arial"/>
                <a:cs typeface="Arial"/>
                <a:sym typeface="Arial"/>
              </a:rPr>
              <a:t>, Module 2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6838950" y="1028700"/>
            <a:ext cx="42862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EDB86C"/>
                </a:solidFill>
                <a:latin typeface="Arial"/>
                <a:ea typeface="Arial"/>
                <a:cs typeface="Arial"/>
                <a:sym typeface="Arial"/>
              </a:rPr>
              <a:t>TEAM 6</a:t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6515100" y="1543050"/>
            <a:ext cx="1428750" cy="1428750"/>
          </a:xfrm>
          <a:prstGeom prst="ellipse">
            <a:avLst/>
          </a:prstGeom>
          <a:solidFill>
            <a:srgbClr val="FFFDF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" name="Google Shape;22;p1"/>
          <p:cNvPicPr preferRelativeResize="0"/>
          <p:nvPr/>
        </p:nvPicPr>
        <p:blipFill rotWithShape="1">
          <a:blip r:embed="rId3">
            <a:alphaModFix/>
          </a:blip>
          <a:srcRect b="11170" l="0" r="0" t="11170"/>
          <a:stretch/>
        </p:blipFill>
        <p:spPr>
          <a:xfrm>
            <a:off x="6572250" y="1600200"/>
            <a:ext cx="1314450" cy="131445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" name="Google Shape;23;p1"/>
          <p:cNvSpPr/>
          <p:nvPr/>
        </p:nvSpPr>
        <p:spPr>
          <a:xfrm>
            <a:off x="6400800" y="3105150"/>
            <a:ext cx="165735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rPr>
              <a:t>Ralph Koh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rPr>
              <a:t>Kwan Liang</a:t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8362950" y="1543050"/>
            <a:ext cx="1428750" cy="1428750"/>
          </a:xfrm>
          <a:prstGeom prst="ellipse">
            <a:avLst/>
          </a:prstGeom>
          <a:solidFill>
            <a:srgbClr val="FFFDF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Google Shape;25;p1"/>
          <p:cNvPicPr preferRelativeResize="0"/>
          <p:nvPr/>
        </p:nvPicPr>
        <p:blipFill rotWithShape="1">
          <a:blip r:embed="rId4">
            <a:alphaModFix/>
          </a:blip>
          <a:srcRect b="12454" l="0" r="0" t="12454"/>
          <a:stretch/>
        </p:blipFill>
        <p:spPr>
          <a:xfrm>
            <a:off x="8420100" y="1600200"/>
            <a:ext cx="1314450" cy="131445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" name="Google Shape;26;p1"/>
          <p:cNvSpPr/>
          <p:nvPr/>
        </p:nvSpPr>
        <p:spPr>
          <a:xfrm>
            <a:off x="8248650" y="3105150"/>
            <a:ext cx="165735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rPr>
              <a:t>Ang Jenn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rPr>
              <a:t>Fang</a:t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10210800" y="1543050"/>
            <a:ext cx="1428750" cy="1428750"/>
          </a:xfrm>
          <a:prstGeom prst="ellipse">
            <a:avLst/>
          </a:prstGeom>
          <a:solidFill>
            <a:srgbClr val="FFFDF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" name="Google Shape;28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267950" y="1600200"/>
            <a:ext cx="1314450" cy="131445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9" name="Google Shape;29;p1"/>
          <p:cNvSpPr/>
          <p:nvPr/>
        </p:nvSpPr>
        <p:spPr>
          <a:xfrm>
            <a:off x="10096500" y="3105150"/>
            <a:ext cx="165735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rPr>
              <a:t>John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rPr>
              <a:t>Phang</a:t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666750" y="5810250"/>
            <a:ext cx="5905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EDB86C"/>
                </a:solidFill>
                <a:latin typeface="Arial"/>
                <a:ea typeface="Arial"/>
                <a:cs typeface="Arial"/>
                <a:sym typeface="Arial"/>
              </a:rPr>
              <a:t>Live demo follows this short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5F1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"/>
          <p:cNvSpPr/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Problem and audience</a:t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609600" y="971550"/>
            <a:ext cx="914400" cy="57150"/>
          </a:xfrm>
          <a:prstGeom prst="rect">
            <a:avLst/>
          </a:prstGeom>
          <a:solidFill>
            <a:srgbClr val="EDB86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609600" y="13335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E3C75"/>
                </a:solidFill>
                <a:latin typeface="Arial"/>
                <a:ea typeface="Arial"/>
                <a:cs typeface="Arial"/>
                <a:sym typeface="Arial"/>
              </a:rPr>
              <a:t>Invoice work spans creation,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E3C75"/>
                </a:solidFill>
                <a:latin typeface="Arial"/>
                <a:ea typeface="Arial"/>
                <a:cs typeface="Arial"/>
                <a:sym typeface="Arial"/>
              </a:rPr>
              <a:t>transmission and payment status</a:t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609600" y="2362860"/>
            <a:ext cx="17145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A45F3F"/>
                </a:solidFill>
                <a:latin typeface="Arial"/>
                <a:ea typeface="Arial"/>
                <a:cs typeface="Arial"/>
                <a:sym typeface="Arial"/>
              </a:rPr>
              <a:t>Audience</a:t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609600" y="2724810"/>
            <a:ext cx="495300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Small business finance and accounts receivable teams</a:t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09600" y="3715410"/>
            <a:ext cx="1905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A45F3F"/>
                </a:solidFill>
                <a:latin typeface="Arial"/>
                <a:ea typeface="Arial"/>
                <a:cs typeface="Arial"/>
                <a:sym typeface="Arial"/>
              </a:rPr>
              <a:t>EasyInvoice</a:t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609600" y="4077360"/>
            <a:ext cx="49530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A browser demo of the invoice lifecycle using Singapore InvoiceNow concepts</a:t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609600" y="5644614"/>
            <a:ext cx="10934700" cy="10012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[Deployed]		</a:t>
            </a:r>
            <a:r>
              <a:rPr b="1" lang="en-US" sz="1800" u="sng">
                <a:solidFill>
                  <a:srgbClr val="1F5552"/>
                </a:solidFill>
                <a:latin typeface="Consolas"/>
                <a:ea typeface="Consolas"/>
                <a:cs typeface="Consolas"/>
                <a:sym typeface="Consola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https://aie1f-easyinvoice.vercel.app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[GitHub]			</a:t>
            </a:r>
            <a:r>
              <a:rPr b="1" lang="en-US" sz="1800" u="sng">
                <a:solidFill>
                  <a:srgbClr val="1F5552"/>
                </a:solidFill>
                <a:latin typeface="Consolas"/>
                <a:ea typeface="Consolas"/>
                <a:cs typeface="Consolas"/>
                <a:sym typeface="Consola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https://github.com/NTU-AIE1F-Team6/m2-b2b-invoice-mgmt-sys</a:t>
            </a:r>
            <a:endParaRPr b="1"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6210300" y="1284072"/>
            <a:ext cx="5334000" cy="4311114"/>
          </a:xfrm>
          <a:prstGeom prst="roundRect">
            <a:avLst>
              <a:gd fmla="val 1538" name="adj"/>
            </a:avLst>
          </a:prstGeom>
          <a:solidFill>
            <a:srgbClr val="FFFDF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" name="Google Shape;45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77000" y="1457070"/>
            <a:ext cx="4800600" cy="3979704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2"/>
          <p:cNvSpPr/>
          <p:nvPr/>
        </p:nvSpPr>
        <p:spPr>
          <a:xfrm>
            <a:off x="609600" y="5040159"/>
            <a:ext cx="48577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Simulated network. Synthetic data only.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5F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"/>
          <p:cNvSpPr/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Working application</a:t>
            </a:r>
            <a:endParaRPr/>
          </a:p>
        </p:txBody>
      </p:sp>
      <p:sp>
        <p:nvSpPr>
          <p:cNvPr id="53" name="Google Shape;53;p3"/>
          <p:cNvSpPr/>
          <p:nvPr/>
        </p:nvSpPr>
        <p:spPr>
          <a:xfrm>
            <a:off x="609600" y="971550"/>
            <a:ext cx="914400" cy="57150"/>
          </a:xfrm>
          <a:prstGeom prst="rect">
            <a:avLst/>
          </a:prstGeom>
          <a:solidFill>
            <a:srgbClr val="EDB86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533400" y="1257300"/>
            <a:ext cx="5391150" cy="4819650"/>
          </a:xfrm>
          <a:prstGeom prst="roundRect">
            <a:avLst>
              <a:gd fmla="val 1581" name="adj"/>
            </a:avLst>
          </a:prstGeom>
          <a:solidFill>
            <a:srgbClr val="FFFDF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6267450" y="1257300"/>
            <a:ext cx="5391150" cy="4819650"/>
          </a:xfrm>
          <a:prstGeom prst="roundRect">
            <a:avLst>
              <a:gd fmla="val 1581" name="adj"/>
            </a:avLst>
          </a:prstGeom>
          <a:solidFill>
            <a:srgbClr val="FFFDF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762000" y="1428750"/>
            <a:ext cx="21907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Dashboard</a:t>
            </a: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762000" y="1790700"/>
            <a:ext cx="4286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F6662"/>
                </a:solidFill>
                <a:latin typeface="Arial"/>
                <a:ea typeface="Arial"/>
                <a:cs typeface="Arial"/>
                <a:sym typeface="Arial"/>
              </a:rPr>
              <a:t>Search, filter, status and actions</a:t>
            </a:r>
            <a:endParaRPr/>
          </a:p>
        </p:txBody>
      </p:sp>
      <p:pic>
        <p:nvPicPr>
          <p:cNvPr id="58" name="Google Shape;58;p3"/>
          <p:cNvPicPr preferRelativeResize="0"/>
          <p:nvPr/>
        </p:nvPicPr>
        <p:blipFill rotWithShape="1">
          <a:blip r:embed="rId3">
            <a:alphaModFix/>
          </a:blip>
          <a:srcRect b="16244" l="0" r="0" t="16244"/>
          <a:stretch/>
        </p:blipFill>
        <p:spPr>
          <a:xfrm>
            <a:off x="762000" y="2209800"/>
            <a:ext cx="4933950" cy="3619500"/>
          </a:xfrm>
          <a:prstGeom prst="roundRect">
            <a:avLst>
              <a:gd fmla="val 2105" name="adj"/>
            </a:avLst>
          </a:prstGeom>
          <a:noFill/>
          <a:ln>
            <a:noFill/>
          </a:ln>
        </p:spPr>
      </p:pic>
      <p:sp>
        <p:nvSpPr>
          <p:cNvPr id="59" name="Google Shape;59;p3"/>
          <p:cNvSpPr/>
          <p:nvPr/>
        </p:nvSpPr>
        <p:spPr>
          <a:xfrm>
            <a:off x="6496050" y="1428750"/>
            <a:ext cx="2476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Create invoice</a:t>
            </a:r>
            <a:endParaRPr/>
          </a:p>
        </p:txBody>
      </p:sp>
      <p:sp>
        <p:nvSpPr>
          <p:cNvPr id="60" name="Google Shape;60;p3"/>
          <p:cNvSpPr/>
          <p:nvPr/>
        </p:nvSpPr>
        <p:spPr>
          <a:xfrm>
            <a:off x="6496050" y="1790700"/>
            <a:ext cx="4572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F6662"/>
                </a:solidFill>
                <a:latin typeface="Arial"/>
                <a:ea typeface="Arial"/>
                <a:cs typeface="Arial"/>
                <a:sym typeface="Arial"/>
              </a:rPr>
              <a:t>Controlled form, catalogue items and GST</a:t>
            </a:r>
            <a:endParaRPr/>
          </a:p>
        </p:txBody>
      </p:sp>
      <p:pic>
        <p:nvPicPr>
          <p:cNvPr id="61" name="Google Shape;61;p3"/>
          <p:cNvPicPr preferRelativeResize="0"/>
          <p:nvPr/>
        </p:nvPicPr>
        <p:blipFill rotWithShape="1">
          <a:blip r:embed="rId4">
            <a:alphaModFix/>
          </a:blip>
          <a:srcRect b="1341" l="0" r="0" t="1341"/>
          <a:stretch/>
        </p:blipFill>
        <p:spPr>
          <a:xfrm>
            <a:off x="6496050" y="2209800"/>
            <a:ext cx="4933950" cy="3619500"/>
          </a:xfrm>
          <a:prstGeom prst="roundRect">
            <a:avLst>
              <a:gd fmla="val 2105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5F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"/>
          <p:cNvSpPr/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Technology and data</a:t>
            </a:r>
            <a:endParaRPr/>
          </a:p>
        </p:txBody>
      </p:sp>
      <p:sp>
        <p:nvSpPr>
          <p:cNvPr id="68" name="Google Shape;68;p4"/>
          <p:cNvSpPr/>
          <p:nvPr/>
        </p:nvSpPr>
        <p:spPr>
          <a:xfrm>
            <a:off x="609600" y="971550"/>
            <a:ext cx="914400" cy="57150"/>
          </a:xfrm>
          <a:prstGeom prst="rect">
            <a:avLst/>
          </a:prstGeom>
          <a:solidFill>
            <a:srgbClr val="EDB86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609600" y="1333500"/>
            <a:ext cx="4286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React 19 + Vite 8</a:t>
            </a:r>
            <a:endParaRPr/>
          </a:p>
        </p:txBody>
      </p:sp>
      <p:sp>
        <p:nvSpPr>
          <p:cNvPr id="70" name="Google Shape;70;p4"/>
          <p:cNvSpPr/>
          <p:nvPr/>
        </p:nvSpPr>
        <p:spPr>
          <a:xfrm>
            <a:off x="609600" y="1695450"/>
            <a:ext cx="4762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Components, hooks and fast local builds</a:t>
            </a:r>
            <a:endParaRPr/>
          </a:p>
        </p:txBody>
      </p:sp>
      <p:sp>
        <p:nvSpPr>
          <p:cNvPr id="71" name="Google Shape;71;p4"/>
          <p:cNvSpPr/>
          <p:nvPr/>
        </p:nvSpPr>
        <p:spPr>
          <a:xfrm>
            <a:off x="609600" y="2209800"/>
            <a:ext cx="4762500" cy="19050"/>
          </a:xfrm>
          <a:prstGeom prst="rect">
            <a:avLst/>
          </a:prstGeom>
          <a:solidFill>
            <a:srgbClr val="D5D8D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09600" y="2305050"/>
            <a:ext cx="4286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React Router 7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609600" y="2667000"/>
            <a:ext cx="4762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Public login/tour and protected app routes</a:t>
            </a:r>
            <a:endParaRPr/>
          </a:p>
        </p:txBody>
      </p:sp>
      <p:sp>
        <p:nvSpPr>
          <p:cNvPr id="74" name="Google Shape;74;p4"/>
          <p:cNvSpPr/>
          <p:nvPr/>
        </p:nvSpPr>
        <p:spPr>
          <a:xfrm>
            <a:off x="609600" y="3181350"/>
            <a:ext cx="4762500" cy="19050"/>
          </a:xfrm>
          <a:prstGeom prst="rect">
            <a:avLst/>
          </a:prstGeom>
          <a:solidFill>
            <a:srgbClr val="D5D8D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609600" y="3276600"/>
            <a:ext cx="4286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MockAPI</a:t>
            </a:r>
            <a:endParaRPr/>
          </a:p>
        </p:txBody>
      </p:sp>
      <p:sp>
        <p:nvSpPr>
          <p:cNvPr id="76" name="Google Shape;76;p4"/>
          <p:cNvSpPr/>
          <p:nvPr/>
        </p:nvSpPr>
        <p:spPr>
          <a:xfrm>
            <a:off x="609600" y="3638550"/>
            <a:ext cx="4762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Shared CRUD persistence, no custom server</a:t>
            </a:r>
            <a:endParaRPr/>
          </a:p>
        </p:txBody>
      </p:sp>
      <p:sp>
        <p:nvSpPr>
          <p:cNvPr id="77" name="Google Shape;77;p4"/>
          <p:cNvSpPr/>
          <p:nvPr/>
        </p:nvSpPr>
        <p:spPr>
          <a:xfrm>
            <a:off x="609600" y="4152900"/>
            <a:ext cx="4762500" cy="19050"/>
          </a:xfrm>
          <a:prstGeom prst="rect">
            <a:avLst/>
          </a:prstGeom>
          <a:solidFill>
            <a:srgbClr val="D5D8D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609600" y="4248150"/>
            <a:ext cx="4286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Vitest + React Testing Library</a:t>
            </a:r>
            <a:endParaRPr/>
          </a:p>
        </p:txBody>
      </p:sp>
      <p:sp>
        <p:nvSpPr>
          <p:cNvPr id="79" name="Google Shape;79;p4"/>
          <p:cNvSpPr/>
          <p:nvPr/>
        </p:nvSpPr>
        <p:spPr>
          <a:xfrm>
            <a:off x="609600" y="4610100"/>
            <a:ext cx="4762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37 behaviour tests in GitHub Actions</a:t>
            </a:r>
            <a:endParaRPr/>
          </a:p>
        </p:txBody>
      </p:sp>
      <p:sp>
        <p:nvSpPr>
          <p:cNvPr id="80" name="Google Shape;80;p4"/>
          <p:cNvSpPr/>
          <p:nvPr/>
        </p:nvSpPr>
        <p:spPr>
          <a:xfrm>
            <a:off x="609600" y="5124450"/>
            <a:ext cx="4762500" cy="19050"/>
          </a:xfrm>
          <a:prstGeom prst="rect">
            <a:avLst/>
          </a:prstGeom>
          <a:solidFill>
            <a:srgbClr val="D5D8D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09600" y="5219700"/>
            <a:ext cx="4286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1F5552"/>
                </a:solidFill>
                <a:latin typeface="Arial"/>
                <a:ea typeface="Arial"/>
                <a:cs typeface="Arial"/>
                <a:sym typeface="Arial"/>
              </a:rPr>
              <a:t>Public APIs</a:t>
            </a: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609600" y="5581650"/>
            <a:ext cx="4762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FX rates and illustrative customer contacts</a:t>
            </a: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5905500" y="1257300"/>
            <a:ext cx="5676900" cy="4838700"/>
          </a:xfrm>
          <a:prstGeom prst="roundRect">
            <a:avLst>
              <a:gd fmla="val 1575" name="adj"/>
            </a:avLst>
          </a:prstGeom>
          <a:solidFill>
            <a:srgbClr val="FFFDF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6172200" y="1447800"/>
            <a:ext cx="4000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A45F3F"/>
                </a:solidFill>
                <a:latin typeface="Arial"/>
                <a:ea typeface="Arial"/>
                <a:cs typeface="Arial"/>
                <a:sym typeface="Arial"/>
              </a:rPr>
              <a:t>MockAPI reference data</a:t>
            </a:r>
            <a:endParaRPr/>
          </a:p>
        </p:txBody>
      </p:sp>
      <p:pic>
        <p:nvPicPr>
          <p:cNvPr id="85" name="Google Shape;85;p4"/>
          <p:cNvPicPr preferRelativeResize="0"/>
          <p:nvPr/>
        </p:nvPicPr>
        <p:blipFill rotWithShape="1">
          <a:blip r:embed="rId3">
            <a:alphaModFix/>
          </a:blip>
          <a:srcRect b="0" l="2238" r="2238" t="0"/>
          <a:stretch/>
        </p:blipFill>
        <p:spPr>
          <a:xfrm>
            <a:off x="6172200" y="1924050"/>
            <a:ext cx="5143500" cy="3886200"/>
          </a:xfrm>
          <a:prstGeom prst="roundRect">
            <a:avLst>
              <a:gd fmla="val 1961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5F1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/>
          <p:cNvSpPr/>
          <p:nvPr/>
        </p:nvSpPr>
        <p:spPr>
          <a:xfrm>
            <a:off x="762000" y="361950"/>
            <a:ext cx="103251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Team learnings</a:t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762000" y="971550"/>
            <a:ext cx="914400" cy="57150"/>
          </a:xfrm>
          <a:prstGeom prst="rect">
            <a:avLst/>
          </a:prstGeom>
          <a:solidFill>
            <a:srgbClr val="EDB86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609600" y="1369184"/>
            <a:ext cx="40005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A45F3F"/>
                </a:solidFill>
                <a:latin typeface="Arial"/>
                <a:ea typeface="Arial"/>
                <a:cs typeface="Arial"/>
                <a:sym typeface="Arial"/>
              </a:rPr>
              <a:t>Ralph Koh</a:t>
            </a:r>
            <a:endParaRPr/>
          </a:p>
        </p:txBody>
      </p:sp>
      <p:sp>
        <p:nvSpPr>
          <p:cNvPr id="94" name="Google Shape;94;p5"/>
          <p:cNvSpPr/>
          <p:nvPr/>
        </p:nvSpPr>
        <p:spPr>
          <a:xfrm>
            <a:off x="609600" y="1807334"/>
            <a:ext cx="49530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5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Structured a complete React app with reusable components, routes and shared state</a:t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609600" y="2816628"/>
            <a:ext cx="4953000" cy="19200"/>
          </a:xfrm>
          <a:prstGeom prst="rect">
            <a:avLst/>
          </a:prstGeom>
          <a:solidFill>
            <a:srgbClr val="D5D8D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609600" y="3023583"/>
            <a:ext cx="40005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A45F3F"/>
                </a:solidFill>
                <a:latin typeface="Arial"/>
                <a:ea typeface="Arial"/>
                <a:cs typeface="Arial"/>
                <a:sym typeface="Arial"/>
              </a:rPr>
              <a:t>Ang Jenn Fang</a:t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609600" y="3486150"/>
            <a:ext cx="495300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B211F"/>
                </a:solidFill>
              </a:rPr>
              <a:t>Initial m</a:t>
            </a:r>
            <a:r>
              <a:rPr b="0" lang="en-US" sz="195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ockup, coded test with Vitest, React Testing Library</a:t>
            </a:r>
            <a:endParaRPr/>
          </a:p>
        </p:txBody>
      </p:sp>
      <p:sp>
        <p:nvSpPr>
          <p:cNvPr id="98" name="Google Shape;98;p5"/>
          <p:cNvSpPr/>
          <p:nvPr/>
        </p:nvSpPr>
        <p:spPr>
          <a:xfrm>
            <a:off x="609600" y="4381500"/>
            <a:ext cx="4953000" cy="19050"/>
          </a:xfrm>
          <a:prstGeom prst="rect">
            <a:avLst/>
          </a:prstGeom>
          <a:solidFill>
            <a:srgbClr val="D5D8D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609600" y="4629150"/>
            <a:ext cx="4000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A45F3F"/>
                </a:solidFill>
                <a:latin typeface="Arial"/>
                <a:ea typeface="Arial"/>
                <a:cs typeface="Arial"/>
                <a:sym typeface="Arial"/>
              </a:rPr>
              <a:t>John Phang</a:t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609600" y="5067300"/>
            <a:ext cx="495300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B211F"/>
                </a:solidFill>
              </a:rPr>
              <a:t>MockAPI persistence, seed tooling, planning, CI and repository governance</a:t>
            </a: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6115050" y="1257300"/>
            <a:ext cx="5467350" cy="4857750"/>
          </a:xfrm>
          <a:prstGeom prst="roundRect">
            <a:avLst>
              <a:gd fmla="val 1569" name="adj"/>
            </a:avLst>
          </a:prstGeom>
          <a:solidFill>
            <a:srgbClr val="FFFDF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5"/>
          <p:cNvPicPr preferRelativeResize="0"/>
          <p:nvPr/>
        </p:nvPicPr>
        <p:blipFill rotWithShape="1">
          <a:blip r:embed="rId3">
            <a:alphaModFix/>
          </a:blip>
          <a:srcRect b="6328" l="0" r="0" t="6328"/>
          <a:stretch/>
        </p:blipFill>
        <p:spPr>
          <a:xfrm>
            <a:off x="6362700" y="1447800"/>
            <a:ext cx="4972050" cy="4457700"/>
          </a:xfrm>
          <a:prstGeom prst="roundRect">
            <a:avLst>
              <a:gd fmla="val 1709" name="adj"/>
            </a:avLst>
          </a:prstGeom>
          <a:noFill/>
          <a:ln>
            <a:noFill/>
          </a:ln>
        </p:spPr>
      </p:pic>
      <p:sp>
        <p:nvSpPr>
          <p:cNvPr id="103" name="Google Shape;103;p5"/>
          <p:cNvSpPr/>
          <p:nvPr/>
        </p:nvSpPr>
        <p:spPr>
          <a:xfrm>
            <a:off x="527875" y="6074112"/>
            <a:ext cx="2905200" cy="489600"/>
          </a:xfrm>
          <a:prstGeom prst="roundRect">
            <a:avLst>
              <a:gd fmla="val 11111" name="adj"/>
            </a:avLst>
          </a:prstGeom>
          <a:solidFill>
            <a:srgbClr val="EDB86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759176" y="6128562"/>
            <a:ext cx="24942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1B211F"/>
                </a:solidFill>
                <a:latin typeface="Arial"/>
                <a:ea typeface="Arial"/>
                <a:cs typeface="Arial"/>
                <a:sym typeface="Arial"/>
              </a:rPr>
              <a:t>Live demo next</a:t>
            </a:r>
            <a:r>
              <a:rPr b="1" lang="en-US" sz="2100">
                <a:solidFill>
                  <a:srgbClr val="1B211F"/>
                </a:solidFill>
              </a:rPr>
              <a:t>…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2026-09-30T17:42:33Z</dcterms:created>
  <dc:creator>Walnut Exporter</dc:creator>
</cp:coreProperties>
</file>