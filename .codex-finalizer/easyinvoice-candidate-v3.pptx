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9a4edf979642ff" /><Relationship Type="http://schemas.openxmlformats.org/officeDocument/2006/relationships/extended-properties" Target="/docProps/app.xml" Id="R2779e22254be42ab" /><Relationship Type="http://schemas.openxmlformats.org/officeDocument/2006/relationships/officeDocument" Target="/ppt/presentation.xml" Id="Rb6eed57f92fe4c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1b6d8a527a4747"/>
  </p:sldMasterIdLst>
  <p:notesMasterIdLst>
    <p:notesMasterId xmlns:r="http://schemas.openxmlformats.org/officeDocument/2006/relationships" r:id="R07b26baf97094dd5"/>
  </p:notesMasterIdLst>
  <p:sldIdLst>
    <p:sldId xmlns:r="http://schemas.openxmlformats.org/officeDocument/2006/relationships" id="256" r:id="Rb1e5409cb7054e92"/>
    <p:sldId xmlns:r="http://schemas.openxmlformats.org/officeDocument/2006/relationships" id="257" r:id="Rfbfa14c33a2345f0"/>
    <p:sldId xmlns:r="http://schemas.openxmlformats.org/officeDocument/2006/relationships" id="258" r:id="R7e0b78004f944b43"/>
    <p:sldId xmlns:r="http://schemas.openxmlformats.org/officeDocument/2006/relationships" id="259" r:id="R08033e8388814ccc"/>
    <p:sldId xmlns:r="http://schemas.openxmlformats.org/officeDocument/2006/relationships" id="260" r:id="R702f4e7bb01e4012"/>
    <p:sldId xmlns:r="http://schemas.openxmlformats.org/officeDocument/2006/relationships" id="261" r:id="Rb7f5602c02f746e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31d8eebedb4f1c" /><Relationship Type="http://schemas.openxmlformats.org/officeDocument/2006/relationships/slideMaster" Target="/ppt/slideMasters/slideMaster1.xml" Id="Rd91b6d8a527a4747" /><Relationship Type="http://schemas.openxmlformats.org/officeDocument/2006/relationships/notesMaster" Target="/ppt/notesMasters/notesMaster1.xml" Id="R07b26baf97094dd5" /><Relationship Type="http://schemas.openxmlformats.org/officeDocument/2006/relationships/presProps" Target="/ppt/presProps.xml" Id="Rb60a53115167423d" /><Relationship Type="http://schemas.openxmlformats.org/officeDocument/2006/relationships/tableStyles" Target="/ppt/tableStyles.xml" Id="Ra3bff7cb8b5541df" /><Relationship Type="http://schemas.openxmlformats.org/officeDocument/2006/relationships/slide" Target="/ppt/slides/slide1.xml" Id="Rb1e5409cb7054e92" /><Relationship Type="http://schemas.openxmlformats.org/officeDocument/2006/relationships/slide" Target="/ppt/slides/slide2.xml" Id="Rfbfa14c33a2345f0" /><Relationship Type="http://schemas.openxmlformats.org/officeDocument/2006/relationships/slide" Target="/ppt/slides/slide3.xml" Id="R7e0b78004f944b43" /><Relationship Type="http://schemas.openxmlformats.org/officeDocument/2006/relationships/slide" Target="/ppt/slides/slide4.xml" Id="R08033e8388814ccc" /><Relationship Type="http://schemas.openxmlformats.org/officeDocument/2006/relationships/slide" Target="/ppt/slides/slide5.xml" Id="R702f4e7bb01e4012" /><Relationship Type="http://schemas.openxmlformats.org/officeDocument/2006/relationships/slide" Target="/ppt/slides/slide6.xml" Id="Rb7f5602c02f746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0cb0fcedce46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f6e7a4c49c4dd9" /><Relationship Type="http://schemas.openxmlformats.org/officeDocument/2006/relationships/notesMaster" Target="/ppt/notesMasters/notesMaster1.xml" Id="Ra095f038c8cf4cd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7a3139ef7a447e" /><Relationship Type="http://schemas.openxmlformats.org/officeDocument/2006/relationships/notesMaster" Target="/ppt/notesMasters/notesMaster1.xml" Id="R1b56bed0c03a4e7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0e17b87baa4488" /><Relationship Type="http://schemas.openxmlformats.org/officeDocument/2006/relationships/notesMaster" Target="/ppt/notesMasters/notesMaster1.xml" Id="R22a57d14cc6248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18d17c3dd243d9" /><Relationship Type="http://schemas.openxmlformats.org/officeDocument/2006/relationships/notesMaster" Target="/ppt/notesMasters/notesMaster1.xml" Id="R6357a832daa345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6af131b240405c" /><Relationship Type="http://schemas.openxmlformats.org/officeDocument/2006/relationships/notesMaster" Target="/ppt/notesMasters/notesMaster1.xml" Id="R6ae8033dc37349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38206a41fb46d2" /><Relationship Type="http://schemas.openxmlformats.org/officeDocument/2006/relationships/notesMaster" Target="/ppt/notesMasters/notesMaster1.xml" Id="Rabde6584af0446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seconds. Introduce EasyInvoice as the team's React learning project. The slides take about four minutes, followed by the working demo. Sources: README.md and docs/planning/presentation-outline.md.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40 seconds. Explain that small finance teams need one view of invoice creation, transmission and collection status. EasyInvoice demonstrates that workflow but does not connect to the real InvoiceNow network. Sources: README.md and docs/images/Peppol-InvoiceNow.png.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40 seconds. Point out the dashboard's operational view and the controlled create form. The live demo will show search, invoice creation, simulated transmission and status changes. Sources: docs/images/dashboard.png and docs/images/create-invoice.png.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50 seconds. Explain why each technology was chosen. MockAPI provides shared persistence without a custom backend. The free tier allowed two resources, so customers and products share referenceData. Sources: README.md, docs/engineering/architecture-design.md and docs/images/referenceData-customers.png.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seconds. Summarise each member's learning focus. Ralph built the initial React application, Jenn established behavioural testing, and John integrated persistence, permissions and repository automation. Sources: docs/planning/presentation-outline.md, README.md and docs/images/Full_tour_with_code.png.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50 seconds. Describe the resource-limit decision, the destructive schema-editor risk and the integration bug found by tests. Then move directly to the live demo: compare viewer and editor access, create and transmit an invoice, and mark a transmitted invoice paid. Sources: docs/planning/presentation-outline.md, docs/decisions/decisions-log.md and docs/images/Hints-ON.png.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40d4fa460c47b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0e0e38758e46e0" /><Relationship Type="http://schemas.openxmlformats.org/officeDocument/2006/relationships/slideLayout" Target="/ppt/slideLayouts/slideLayout1.xml" Id="Rcc2e2e5c0bc648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2e2e5c0bc648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8f65c7be94a07" /><Relationship Type="http://schemas.openxmlformats.org/officeDocument/2006/relationships/image" Target="/ppt/media/image.jpeg" Id="R1e4fb10ab6ca4062" /><Relationship Type="http://schemas.openxmlformats.org/officeDocument/2006/relationships/image" Target="/ppt/media/image.png" Id="R0b46136c708f4465" /><Relationship Type="http://schemas.openxmlformats.org/officeDocument/2006/relationships/image" Target="/ppt/media/image2.png" Id="Re4a6c76fc7564d3a" /><Relationship Type="http://schemas.openxmlformats.org/officeDocument/2006/relationships/notesSlide" Target="/ppt/notesSlides/notesSlide1.xml" Id="R25377d84b7e843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0a7688a62a47f7" /><Relationship Type="http://schemas.openxmlformats.org/officeDocument/2006/relationships/image" Target="/ppt/media/image3.png" Id="R5b99a1e5e1b94cdb" /><Relationship Type="http://schemas.openxmlformats.org/officeDocument/2006/relationships/notesSlide" Target="/ppt/notesSlides/notesSlide2.xml" Id="Re72120e7562540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31de38f0d645f3" /><Relationship Type="http://schemas.openxmlformats.org/officeDocument/2006/relationships/image" Target="/ppt/media/image4.png" Id="R6e09e38b76cd4710" /><Relationship Type="http://schemas.openxmlformats.org/officeDocument/2006/relationships/image" Target="/ppt/media/image5.png" Id="R04b5162b44ce433f" /><Relationship Type="http://schemas.openxmlformats.org/officeDocument/2006/relationships/notesSlide" Target="/ppt/notesSlides/notesSlide3.xml" Id="Rd05e2fbea9b346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dd2281df94243" /><Relationship Type="http://schemas.openxmlformats.org/officeDocument/2006/relationships/image" Target="/ppt/media/image6.png" Id="R7fa38fc17574471b" /><Relationship Type="http://schemas.openxmlformats.org/officeDocument/2006/relationships/notesSlide" Target="/ppt/notesSlides/notesSlide4.xml" Id="R72fe64a25e754a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67986ed2c46fe" /><Relationship Type="http://schemas.openxmlformats.org/officeDocument/2006/relationships/image" Target="/ppt/media/image7.png" Id="R4007ebe0a6014ca1" /><Relationship Type="http://schemas.openxmlformats.org/officeDocument/2006/relationships/notesSlide" Target="/ppt/notesSlides/notesSlide5.xml" Id="R52acb1b8d91e40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742978e8b84d9b" /><Relationship Type="http://schemas.openxmlformats.org/officeDocument/2006/relationships/image" Target="/ppt/media/image8.png" Id="R54088c76cf4c4c06" /><Relationship Type="http://schemas.openxmlformats.org/officeDocument/2006/relationships/notesSlide" Target="/ppt/notesSlides/notesSlide6.xml" Id="R0cb3114545434c1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55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14F893-3D69-4AC4-8825-8CBFDFA4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348A2-5904-4FBF-A626-6C09AC81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EasyInvoice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28323-3B4F-4BDF-9065-AFD3C860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DF9"/>
                </a:solidFill>
                <a:latin typeface="Arial"/>
                <a:ea typeface="Arial"/>
                <a:cs typeface="Arial"/>
              </a:rPr>
              <a:t>React learning project</a:t>
            </a:r>
          </a:p>
          <a:p xmlns:a="http://schemas.openxmlformats.org/drawingml/2006/main">
            <a:pPr>
              <a:defRPr sz="2400" b="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DF9"/>
                </a:solidFill>
                <a:latin typeface="Arial"/>
                <a:ea typeface="Arial"/>
                <a:cs typeface="Arial"/>
              </a:rPr>
              <a:t>for B2B e-invoicing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AEDE9E-505E-4384-97E1-AF548F83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B86C"/>
                </a:solidFill>
                <a:latin typeface="Arial"/>
                <a:ea typeface="Arial"/>
                <a:cs typeface="Arial"/>
              </a:rPr>
              <a:t>NTU AI Engineering, 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D263D-9CAD-48CD-8B57-E529D3E1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28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B86C"/>
                </a:solidFill>
                <a:latin typeface="Arial"/>
                <a:ea typeface="Arial"/>
                <a:cs typeface="Arial"/>
              </a:rPr>
              <a:t>TEAM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2D2E5-42DC-433D-9E4E-D32BD6424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430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fb10ab6ca4062"/>
          <a:srcRect xmlns:a="http://schemas.openxmlformats.org/drawingml/2006/main" l="0" t="11170" r="0" b="11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600200"/>
            <a:ext cx="1314450" cy="1314450"/>
          </a:xfrm>
          <a:prstGeom xmlns:a="http://schemas.openxmlformats.org/drawingml/2006/main" prst="ellipse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EB40AC-FBAA-423E-B172-6FB91E0F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Ralph Koh</a:t>
            </a:r>
          </a:p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Kwan Liang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7B772-5183-438A-BA52-CD21D84B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430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6136c708f4465"/>
          <a:srcRect xmlns:a="http://schemas.openxmlformats.org/drawingml/2006/main" l="0" t="12454" r="0" b="12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0100" y="1600200"/>
            <a:ext cx="1314450" cy="1314450"/>
          </a:xfrm>
          <a:prstGeom xmlns:a="http://schemas.openxmlformats.org/drawingml/2006/main" prst="ellipse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78F353-07C0-46C7-B112-D083389F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Ang Jenn</a:t>
            </a:r>
          </a:p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Fang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D7222-2C70-431D-BC6B-8BDA6D4D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5430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6c76fc7564d3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7950" y="1600200"/>
            <a:ext cx="1314450" cy="1314450"/>
          </a:xfrm>
          <a:prstGeom xmlns:a="http://schemas.openxmlformats.org/drawingml/2006/main" prst="ellipse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97858-D1BE-4CAA-B912-31141214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051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John</a:t>
            </a:r>
          </a:p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Phang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49E493-A623-4819-820D-D4E80B48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B86C"/>
                </a:solidFill>
                <a:latin typeface="Arial"/>
                <a:ea typeface="Arial"/>
                <a:cs typeface="Arial"/>
              </a:rPr>
              <a:t>Live demo follows this short overview</a:t>
            </a:r>
          </a:p>
        </p:txBody>
      </p:sp>
    </p:spTree>
    <p:extLst>
      <p:ext uri="{BB962C8B-B14F-4D97-AF65-F5344CB8AC3E}">
        <p14:creationId xmlns:p14="http://schemas.microsoft.com/office/powerpoint/2010/main" val="1249919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FFF53-AAA6-46EB-8931-68CD13880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Problem and 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19D2C-EA2D-4803-98BF-6C732AFC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FA2EE-FFE5-45E7-B085-6A768BCA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Invoice work spans creation,</a:t>
            </a:r>
          </a:p>
          <a:p xmlns:a="http://schemas.openxmlformats.org/drawingml/2006/main">
            <a:pPr>
              <a:defRPr sz="255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transmission and payment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3111B9-7E5B-4989-B0A5-F867D58F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Audience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DBA74B-476B-42D1-8891-8FF34943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Small business finance and accounts receivable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E51F18-4915-45BA-8C28-C7C32506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EasyInvoice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5CE909-0D08-43F6-9233-83AD1558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A browser demo of the invoice lifecycle using Singapore InvoiceNow concepts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BAA93E-7494-4AAE-A2F6-0DFEC053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Simulated network. Synthetic data only.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14C5BA-3BE2-4441-98E7-9C6BC4ED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19200"/>
            <a:ext cx="53340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9a1e5e1b94cdb"/>
          <a:stretch xmlns:a="http://schemas.openxmlformats.org/drawingml/2006/main"/>
        </p:blipFill>
        <p:spPr>
          <a:xfrm xmlns:a="http://schemas.openxmlformats.org/drawingml/2006/main">
            <a:off x="6477000" y="1696323"/>
            <a:ext cx="4800600" cy="39797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184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D7645F-1517-4BD8-936D-3B2303EA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Working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94B2A-BC4B-4890-9725-939B9D5E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B97B8-4F94-4DAE-80DE-D80E2C0AB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53911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666641-F49F-4A65-B746-59C3D39F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57300"/>
            <a:ext cx="53911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EA944-3527-4C79-9893-AA203E4B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0DAD0A-DAC3-448F-AC7A-7C9B66C5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6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62"/>
                </a:solidFill>
                <a:latin typeface="Arial"/>
                <a:ea typeface="Arial"/>
                <a:cs typeface="Arial"/>
              </a:rPr>
              <a:t>Search, filter, status and actions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9e38b76cd4710"/>
          <a:srcRect xmlns:a="http://schemas.openxmlformats.org/drawingml/2006/main" l="0" t="16244" r="0" b="16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209800"/>
            <a:ext cx="4933950" cy="3619500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880D6-D84C-4248-BA28-989222BB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Create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004D5-FA6A-477B-A7FC-631065DFC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6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62"/>
                </a:solidFill>
                <a:latin typeface="Arial"/>
                <a:ea typeface="Arial"/>
                <a:cs typeface="Arial"/>
              </a:rPr>
              <a:t>Controlled form, catalogue items and GST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b5162b44ce433f"/>
          <a:srcRect xmlns:a="http://schemas.openxmlformats.org/drawingml/2006/main" l="0" t="1341" r="0" b="13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209800"/>
            <a:ext cx="4933950" cy="3619500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</p:spTree>
    <p:extLst>
      <p:ext uri="{BB962C8B-B14F-4D97-AF65-F5344CB8AC3E}">
        <p14:creationId xmlns:p14="http://schemas.microsoft.com/office/powerpoint/2010/main" val="13903917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338B1B-CC1E-496B-AC6A-52F30E98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Technology and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87C5B-9A38-43D5-814D-93D50933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5E21B-EE21-41D9-9D6F-5488F34F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React 19 + Vite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C1136-41DD-4958-9DB1-8471C60A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Components, hooks and fast local builds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A7CFD-E82D-4306-AB77-9B6289E2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11E29C-C3E7-47B9-8828-5205846F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React Router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B55326-9144-413A-AB16-891DEA49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Public login/tour and protected app routes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DF81F3-06AB-4158-AF10-01DE9ECE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3E2E73-D6BF-42DE-A89D-38D981BC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MockAPI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94541-E3DB-4967-A614-67D8E749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Shared CRUD persistence, no custom 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A56C9-A8BD-4CA4-9833-1034E91E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EC898-D3D6-4358-8E89-D29C3E9C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Vitest + React Testing Library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F42601-7641-4BAD-A4A1-82D068DE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37 behaviour tests in GitHub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E4646C-B8D9-4FA0-AB8D-FB550CFF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DA95E3-CA0E-4B88-B503-C25D585F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Public APIs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79A03D-1273-429A-A10B-811A367C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FX rates and illustrative customer contacts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049505-78C6-4B6D-94ED-34DDF81C8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676900" cy="48387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F3B8C5-BB9B-4937-B30E-D8689375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MockAPI reference data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38fc17574471b"/>
          <a:srcRect xmlns:a="http://schemas.openxmlformats.org/drawingml/2006/main" l="2238" t="0" r="22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924050"/>
            <a:ext cx="5143500" cy="388620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</p:spTree>
    <p:extLst>
      <p:ext uri="{BB962C8B-B14F-4D97-AF65-F5344CB8AC3E}">
        <p14:creationId xmlns:p14="http://schemas.microsoft.com/office/powerpoint/2010/main" val="4146719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FA1365-A085-4232-B829-03BDA674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Team learnings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FCB2B-AD6D-479A-B0F9-47316C89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41BCC-76EE-4F06-BA13-FB244EA6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Ralph Koh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7C302-D33D-40E7-B369-ED60FD54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Structured a complete React app with reusable components, routes and shared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970EC-28F7-4A35-8548-2E0A4B98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C8091-2D66-4BCC-9AA8-BC5C6B1D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Ang Jenn Fang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71F98-BECE-4065-A501-815C0BEB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Tested user behaviour with Vitest, React Testing Library and mocks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4A905-9BCC-46BF-AC6D-723DB0F9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64CB3-BBAD-41B1-B09B-3B2CFF99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John Phang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77E36-3A41-4A3C-8404-2D19AC77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Integrated hosted persistence, role checks and CI across parallel branches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A1BF34-A553-44A7-9EFA-7459395A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57300"/>
            <a:ext cx="54673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7ebe0a6014ca1"/>
          <a:srcRect xmlns:a="http://schemas.openxmlformats.org/drawingml/2006/main" l="0" t="6328" r="0" b="6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447800"/>
            <a:ext cx="4972050" cy="4457700"/>
          </a:xfrm>
          <a:prstGeom xmlns:a="http://schemas.openxmlformats.org/drawingml/2006/main" prst="roundRect">
            <a:avLst>
              <a:gd name="adj" fmla="val 1709"/>
            </a:avLst>
          </a:prstGeom>
        </p:spPr>
      </p:pic>
    </p:spTree>
    <p:extLst>
      <p:ext uri="{BB962C8B-B14F-4D97-AF65-F5344CB8AC3E}">
        <p14:creationId xmlns:p14="http://schemas.microsoft.com/office/powerpoint/2010/main" val="3704549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5D3F3F-82CF-4349-85CB-6CFB6207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Challenges and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D5677-6F5C-4CA3-BAAD-11B70A61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D501F-8B7F-4D00-B802-F7297D13D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MockAPI allowed two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F751E1-9C84-4593-A163-10E7BEFB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Customers and products share a typed referenceData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92D96-EEF8-4266-AA14-EBCDCF71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9F364-4436-4E3E-B496-77119B99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The schema editor could erase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027B1-0D34-4482-9FBD-390E9F29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The team documented the risk and added repeatable seed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1E2FF1-B562-4CBE-A8DE-E43D40C6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B99E7-CAC2-42B9-A9C5-0818EBF1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Session-key mismatch after 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0B3102-6150-4142-A1D7-2FC79452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Tests caught the regression before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F3397-5063-4F91-B67E-922F555C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57300"/>
            <a:ext cx="42481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88c76cf4c4c06"/>
          <a:srcRect xmlns:a="http://schemas.openxmlformats.org/drawingml/2006/main" l="265" t="0" r="2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1466850"/>
            <a:ext cx="3790950" cy="3676650"/>
          </a:xfrm>
          <a:prstGeom xmlns:a="http://schemas.openxmlformats.org/drawingml/2006/main" prst="roundRect">
            <a:avLst>
              <a:gd name="adj" fmla="val 207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3001B6-02C9-4C39-9192-5B94F692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A54FE-168C-40B8-AB4A-212D9FCB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Live demo next: viewer permissions, create and transmit, mark paid</a:t>
            </a:r>
          </a:p>
        </p:txBody>
      </p:sp>
    </p:spTree>
    <p:extLst>
      <p:ext uri="{BB962C8B-B14F-4D97-AF65-F5344CB8AC3E}">
        <p14:creationId xmlns:p14="http://schemas.microsoft.com/office/powerpoint/2010/main" val="607878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2026-09-30T17:15:50.9200000Z</dcterms:created>
  <dcterms:modified xsi:type="dcterms:W3CDTF">2026-09-30T17:15:50.9200000Z</dcterms:modified>
</coreProperties>
</file>